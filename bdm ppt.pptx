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92" r:id="rId1"/>
  </p:sldMasterIdLst>
  <p:notesMasterIdLst>
    <p:notesMasterId r:id="rId14"/>
  </p:notesMasterIdLst>
  <p:sldIdLst>
    <p:sldId id="256" r:id="rId2"/>
    <p:sldId id="257" r:id="rId3"/>
    <p:sldId id="258" r:id="rId4"/>
    <p:sldId id="259" r:id="rId5"/>
    <p:sldId id="260" r:id="rId6"/>
    <p:sldId id="261" r:id="rId7"/>
    <p:sldId id="262" r:id="rId8"/>
    <p:sldId id="266" r:id="rId9"/>
    <p:sldId id="263" r:id="rId10"/>
    <p:sldId id="271" r:id="rId11"/>
    <p:sldId id="264" r:id="rId12"/>
    <p:sldId id="265" r:id="rId13"/>
  </p:sldIdLst>
  <p:sldSz cx="14630400" cy="8229600"/>
  <p:notesSz cx="8229600" cy="14630400"/>
  <p:embeddedFontLst>
    <p:embeddedFont>
      <p:font typeface="DM Sans" pitchFamily="2" charset="0"/>
      <p:regular r:id="rId15"/>
      <p:bold r:id="rId16"/>
      <p:italic r:id="rId17"/>
      <p:boldItalic r:id="rId18"/>
    </p:embeddedFont>
    <p:embeddedFont>
      <p:font typeface="DM Sans Bold" charset="0"/>
      <p:bold r:id="rId19"/>
    </p:embeddedFont>
    <p:embeddedFont>
      <p:font typeface="Fira Sans Bold" panose="020B0604020202020204" charset="0"/>
      <p:regular r:id="rId20"/>
    </p:embeddedFont>
    <p:embeddedFont>
      <p:font typeface="Montserrat Bold" panose="020B0604020202020204" charset="0"/>
      <p:bold r:id="rId21"/>
    </p:embeddedFont>
    <p:embeddedFont>
      <p:font typeface="PT Serif" panose="020A0603040505020204" pitchFamily="18" charset="0"/>
      <p:regular r:id="rId22"/>
      <p:bold r:id="rId23"/>
      <p:italic r:id="rId24"/>
      <p:boldItalic r:id="rId25"/>
    </p:embeddedFont>
    <p:embeddedFont>
      <p:font typeface="Roboto" panose="02000000000000000000" pitchFamily="2" charset="0"/>
      <p:regular r:id="rId26"/>
      <p:bold r:id="rId27"/>
      <p:italic r:id="rId28"/>
      <p:boldItalic r:id="rId29"/>
    </p:embeddedFont>
    <p:embeddedFont>
      <p:font typeface="Source Sans Pro" panose="020B0503030403020204" pitchFamily="34" charset="0"/>
      <p:regular r:id="rId30"/>
      <p:bold r:id="rId3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1T09:02:27.434"/>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8557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316736" y="910742"/>
            <a:ext cx="12070080" cy="4279392"/>
          </a:xfrm>
        </p:spPr>
        <p:txBody>
          <a:bodyPr anchor="b">
            <a:normAutofit/>
          </a:bodyPr>
          <a:lstStyle>
            <a:lvl1pPr algn="l">
              <a:lnSpc>
                <a:spcPct val="85000"/>
              </a:lnSpc>
              <a:defRPr sz="9600" spc="-6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320061" y="5346744"/>
            <a:ext cx="12070080" cy="1371600"/>
          </a:xfrm>
        </p:spPr>
        <p:txBody>
          <a:bodyPr lIns="91440" rIns="91440">
            <a:normAutofit/>
          </a:bodyPr>
          <a:lstStyle>
            <a:lvl1pPr marL="0" indent="0" algn="l">
              <a:buNone/>
              <a:defRPr sz="2880" cap="all" spc="240" baseline="0">
                <a:solidFill>
                  <a:schemeClr val="tx2"/>
                </a:solidFill>
                <a:latin typeface="+mj-lt"/>
              </a:defRPr>
            </a:lvl1pPr>
            <a:lvl2pPr marL="548640" indent="0" algn="ctr">
              <a:buNone/>
              <a:defRPr sz="2880"/>
            </a:lvl2pPr>
            <a:lvl3pPr marL="1097280" indent="0" algn="ctr">
              <a:buNone/>
              <a:defRPr sz="2880"/>
            </a:lvl3pPr>
            <a:lvl4pPr marL="1645920" indent="0" algn="ctr">
              <a:buNone/>
              <a:defRPr sz="2400"/>
            </a:lvl4pPr>
            <a:lvl5pPr marL="2194560" indent="0" algn="ctr">
              <a:buNone/>
              <a:defRPr sz="2400"/>
            </a:lvl5pPr>
            <a:lvl6pPr marL="2743200" indent="0" algn="ctr">
              <a:buNone/>
              <a:defRPr sz="2400"/>
            </a:lvl6pPr>
            <a:lvl7pPr marL="3291840" indent="0" algn="ctr">
              <a:buNone/>
              <a:defRPr sz="2400"/>
            </a:lvl7pPr>
            <a:lvl8pPr marL="3840480" indent="0" algn="ctr">
              <a:buNone/>
              <a:defRPr sz="2400"/>
            </a:lvl8pPr>
            <a:lvl9pPr marL="438912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BFA4BE-A1BB-49DD-91E6-AA186C3F5D21}" type="datetime1">
              <a:rPr lang="en-US" smtClean="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449190"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5033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5C69E1-C7BA-4D4A-8772-BD33972F639B}" type="datetime1">
              <a:rPr lang="en-US" smtClean="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476669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316736" y="910742"/>
            <a:ext cx="12070080" cy="4279392"/>
          </a:xfrm>
        </p:spPr>
        <p:txBody>
          <a:bodyPr anchor="b" anchorCtr="0">
            <a:normAutofit/>
          </a:bodyPr>
          <a:lstStyle>
            <a:lvl1pPr>
              <a:lnSpc>
                <a:spcPct val="85000"/>
              </a:lnSpc>
              <a:defRPr sz="96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16736" y="5343754"/>
            <a:ext cx="12070080" cy="1371600"/>
          </a:xfrm>
        </p:spPr>
        <p:txBody>
          <a:bodyPr lIns="91440" rIns="91440" anchor="t" anchorCtr="0">
            <a:normAutofit/>
          </a:bodyPr>
          <a:lstStyle>
            <a:lvl1pPr marL="0" indent="0">
              <a:buNone/>
              <a:defRPr sz="2880" cap="all" spc="240" baseline="0">
                <a:solidFill>
                  <a:schemeClr val="tx2"/>
                </a:solidFill>
                <a:latin typeface="+mj-lt"/>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DC885D-9261-432A-85A0-5CDFE08B5D90}" type="datetime1">
              <a:rPr lang="en-US" smtClean="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449190"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8499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316736" y="343924"/>
            <a:ext cx="12070080" cy="174090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316735" y="2214881"/>
            <a:ext cx="5925312"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61504" y="2214882"/>
            <a:ext cx="5925312"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C20933-69FB-4C91-923C-5652FC0275C3}" type="datetime1">
              <a:rPr lang="en-US" smtClean="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641560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316736" y="343924"/>
            <a:ext cx="12070080" cy="174090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16736" y="2215263"/>
            <a:ext cx="5925312" cy="883538"/>
          </a:xfrm>
        </p:spPr>
        <p:txBody>
          <a:bodyPr lIns="91440" rIns="91440" anchor="ctr">
            <a:normAutofit/>
          </a:bodyPr>
          <a:lstStyle>
            <a:lvl1pPr marL="0" indent="0">
              <a:buNone/>
              <a:defRPr sz="2400" b="0" cap="all" baseline="0">
                <a:solidFill>
                  <a:schemeClr val="tx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16736" y="3098801"/>
            <a:ext cx="5925312" cy="4053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61504" y="2215263"/>
            <a:ext cx="5925312" cy="883538"/>
          </a:xfrm>
        </p:spPr>
        <p:txBody>
          <a:bodyPr lIns="91440" rIns="91440" anchor="ctr">
            <a:normAutofit/>
          </a:bodyPr>
          <a:lstStyle>
            <a:lvl1pPr marL="0" indent="0">
              <a:buNone/>
              <a:defRPr sz="2400" b="0" cap="all" baseline="0">
                <a:solidFill>
                  <a:schemeClr val="tx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61504" y="3098801"/>
            <a:ext cx="5925312" cy="4053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5EC118-9ACF-4616-868C-3B763558AD1F}" type="datetime1">
              <a:rPr lang="en-US" smtClean="0"/>
              <a:t>4/23/2025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711571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C2965D-270A-4138-9058-FB2E82EF1BDF}" type="datetime1">
              <a:rPr lang="en-US" smtClean="0"/>
              <a:t>4/23/2025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51613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6064F53-6A5C-432B-A988-776734F33064}" type="datetime1">
              <a:rPr lang="en-US" smtClean="0"/>
              <a:t>4/23/2025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06311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0" y="0"/>
            <a:ext cx="4860949" cy="822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848085" y="0"/>
            <a:ext cx="76810" cy="822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8640" y="713231"/>
            <a:ext cx="3840480" cy="2743200"/>
          </a:xfrm>
        </p:spPr>
        <p:txBody>
          <a:bodyPr anchor="b">
            <a:normAutofit/>
          </a:bodyPr>
          <a:lstStyle>
            <a:lvl1pPr>
              <a:defRPr sz="43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60720" y="877824"/>
            <a:ext cx="7790688" cy="6309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8640" y="3511296"/>
            <a:ext cx="3840480" cy="4054949"/>
          </a:xfrm>
        </p:spPr>
        <p:txBody>
          <a:bodyPr lIns="91440" rIns="91440">
            <a:normAutofit/>
          </a:bodyPr>
          <a:lstStyle>
            <a:lvl1pPr marL="0" indent="0">
              <a:buNone/>
              <a:defRPr sz="180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a:xfrm>
            <a:off x="558614" y="7751743"/>
            <a:ext cx="3142212" cy="438150"/>
          </a:xfrm>
        </p:spPr>
        <p:txBody>
          <a:bodyPr/>
          <a:lstStyle>
            <a:lvl1pPr algn="l">
              <a:defRPr/>
            </a:lvl1pPr>
          </a:lstStyle>
          <a:p>
            <a:fld id="{6FD9DE01-4780-4F90-8C3A-7D62B9A7363B}" type="datetime1">
              <a:rPr lang="en-US" smtClean="0"/>
              <a:t>4/23/2025</a:t>
            </a:fld>
            <a:endParaRPr lang="en-US" dirty="0"/>
          </a:p>
        </p:txBody>
      </p:sp>
      <p:sp>
        <p:nvSpPr>
          <p:cNvPr id="6" name="Footer Placeholder 5"/>
          <p:cNvSpPr>
            <a:spLocks noGrp="1"/>
          </p:cNvSpPr>
          <p:nvPr>
            <p:ph type="ftr" sz="quarter" idx="11"/>
          </p:nvPr>
        </p:nvSpPr>
        <p:spPr>
          <a:xfrm>
            <a:off x="5760720" y="7751743"/>
            <a:ext cx="5577840" cy="438150"/>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73155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5943600"/>
            <a:ext cx="1462659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9" y="5898091"/>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316736" y="6089904"/>
            <a:ext cx="12135917" cy="987552"/>
          </a:xfrm>
        </p:spPr>
        <p:txBody>
          <a:bodyPr lIns="91440" tIns="0" rIns="91440" bIns="0" anchor="b">
            <a:noAutofit/>
          </a:bodyPr>
          <a:lstStyle>
            <a:lvl1pPr>
              <a:defRPr sz="432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9" y="0"/>
            <a:ext cx="14630382" cy="5898091"/>
          </a:xfrm>
          <a:blipFill>
            <a:blip r:embed="rId2"/>
            <a:stretch>
              <a:fillRect/>
            </a:stretch>
          </a:blipFill>
        </p:spPr>
        <p:txBody>
          <a:bodyPr lIns="457200" tIns="457200" anchor="t"/>
          <a:lstStyle>
            <a:lvl1pPr marL="0" indent="0">
              <a:buNone/>
              <a:defRPr sz="3840">
                <a:solidFill>
                  <a:schemeClr val="bg1"/>
                </a:solidFill>
              </a:defRPr>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316736" y="7088428"/>
            <a:ext cx="12135917" cy="713232"/>
          </a:xfrm>
        </p:spPr>
        <p:txBody>
          <a:bodyPr lIns="91440" tIns="0" rIns="91440" bIns="0">
            <a:normAutofit/>
          </a:bodyPr>
          <a:lstStyle>
            <a:lvl1pPr marL="0" indent="0">
              <a:spcBef>
                <a:spcPts val="0"/>
              </a:spcBef>
              <a:spcAft>
                <a:spcPts val="720"/>
              </a:spcAft>
              <a:buNone/>
              <a:defRPr sz="180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AF043C8C-CD58-4E11-AEDF-507F283867D0}" type="datetime1">
              <a:rPr lang="en-US" smtClean="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336372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6DC4CE-85C0-4C0B-89C6-6A385CBD147D}" type="datetime1">
              <a:rPr lang="en-US" smtClean="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721555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469880" y="497734"/>
            <a:ext cx="3154680" cy="690890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97734"/>
            <a:ext cx="9281160" cy="6908906"/>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33383D-A42E-46B0-B863-CCF053D472C8}" type="datetime1">
              <a:rPr lang="en-US" smtClean="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20061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680960"/>
            <a:ext cx="1463040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7601179"/>
            <a:ext cx="14630401" cy="79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16736" y="343924"/>
            <a:ext cx="12070080" cy="17409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316736" y="2214881"/>
            <a:ext cx="12070080" cy="4828032"/>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16737" y="7751743"/>
            <a:ext cx="2966725" cy="438150"/>
          </a:xfrm>
          <a:prstGeom prst="rect">
            <a:avLst/>
          </a:prstGeom>
        </p:spPr>
        <p:txBody>
          <a:bodyPr vert="horz" lIns="91440" tIns="45720" rIns="91440" bIns="45720" rtlCol="0" anchor="ctr"/>
          <a:lstStyle>
            <a:lvl1pPr algn="l">
              <a:defRPr sz="1080">
                <a:solidFill>
                  <a:srgbClr val="FFFFFF"/>
                </a:solidFill>
              </a:defRPr>
            </a:lvl1pPr>
          </a:lstStyle>
          <a:p>
            <a:fld id="{11338772-91C7-41A9-9DB9-302B4774A2F5}" type="datetime1">
              <a:rPr lang="en-US" smtClean="0"/>
              <a:t>4/23/2025</a:t>
            </a:fld>
            <a:endParaRPr lang="en-US" dirty="0"/>
          </a:p>
        </p:txBody>
      </p:sp>
      <p:sp>
        <p:nvSpPr>
          <p:cNvPr id="5" name="Footer Placeholder 4"/>
          <p:cNvSpPr>
            <a:spLocks noGrp="1"/>
          </p:cNvSpPr>
          <p:nvPr>
            <p:ph type="ftr" sz="quarter" idx="3"/>
          </p:nvPr>
        </p:nvSpPr>
        <p:spPr>
          <a:xfrm>
            <a:off x="4423422" y="7751743"/>
            <a:ext cx="5787365" cy="438150"/>
          </a:xfrm>
          <a:prstGeom prst="rect">
            <a:avLst/>
          </a:prstGeom>
        </p:spPr>
        <p:txBody>
          <a:bodyPr vert="horz" lIns="91440" tIns="45720" rIns="91440" bIns="45720" rtlCol="0" anchor="ctr"/>
          <a:lstStyle>
            <a:lvl1pPr algn="ctr">
              <a:defRPr sz="108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1880550" y="7751743"/>
            <a:ext cx="1574430" cy="438150"/>
          </a:xfrm>
          <a:prstGeom prst="rect">
            <a:avLst/>
          </a:prstGeom>
        </p:spPr>
        <p:txBody>
          <a:bodyPr vert="horz" lIns="91440" tIns="45720" rIns="91440" bIns="45720" rtlCol="0" anchor="ctr"/>
          <a:lstStyle>
            <a:lvl1pPr algn="r">
              <a:defRPr sz="126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432238" y="2085414"/>
            <a:ext cx="1196035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360397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ftr="0" dt="0"/>
  <p:txStyles>
    <p:title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p:titleStyle>
    <p:bodyStyle>
      <a:lvl1pPr marL="109728" indent="-109728" algn="l" defTabSz="1097280" rtl="0" eaLnBrk="1" latinLnBrk="0" hangingPunct="1">
        <a:lnSpc>
          <a:spcPct val="90000"/>
        </a:lnSpc>
        <a:spcBef>
          <a:spcPts val="1440"/>
        </a:spcBef>
        <a:spcAft>
          <a:spcPts val="24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460858" indent="-219456" algn="l" defTabSz="1097280" rtl="0" eaLnBrk="1" latinLnBrk="0" hangingPunct="1">
        <a:lnSpc>
          <a:spcPct val="90000"/>
        </a:lnSpc>
        <a:spcBef>
          <a:spcPts val="240"/>
        </a:spcBef>
        <a:spcAft>
          <a:spcPts val="480"/>
        </a:spcAft>
        <a:buClr>
          <a:schemeClr val="accent1"/>
        </a:buClr>
        <a:buFont typeface="Calibri" pitchFamily="34" charset="0"/>
        <a:buChar char="◦"/>
        <a:defRPr sz="2160" kern="1200">
          <a:solidFill>
            <a:schemeClr val="tx1">
              <a:lumMod val="75000"/>
              <a:lumOff val="25000"/>
            </a:schemeClr>
          </a:solidFill>
          <a:latin typeface="+mn-lt"/>
          <a:ea typeface="+mn-ea"/>
          <a:cs typeface="+mn-cs"/>
        </a:defRPr>
      </a:lvl2pPr>
      <a:lvl3pPr marL="680314"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3pPr>
      <a:lvl4pPr marL="899770"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4pPr>
      <a:lvl5pPr marL="1119226"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5pPr>
      <a:lvl6pPr marL="132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6pPr>
      <a:lvl7pPr marL="156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7pPr>
      <a:lvl8pPr marL="180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8pPr>
      <a:lvl9pPr marL="204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13" Type="http://schemas.microsoft.com/office/2007/relationships/hdphoto" Target="../media/hdphoto4.wdp"/><Relationship Id="rId18" Type="http://schemas.openxmlformats.org/officeDocument/2006/relationships/image" Target="../media/image27.png"/><Relationship Id="rId3" Type="http://schemas.openxmlformats.org/officeDocument/2006/relationships/image" Target="../media/image16.png"/><Relationship Id="rId7" Type="http://schemas.microsoft.com/office/2007/relationships/hdphoto" Target="../media/hdphoto2.wdp"/><Relationship Id="rId12" Type="http://schemas.openxmlformats.org/officeDocument/2006/relationships/image" Target="../media/image22.png"/><Relationship Id="rId17" Type="http://schemas.openxmlformats.org/officeDocument/2006/relationships/image" Target="../media/image26.png"/><Relationship Id="rId2" Type="http://schemas.openxmlformats.org/officeDocument/2006/relationships/notesSlide" Target="../notesSlides/notesSlide6.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1.png"/><Relationship Id="rId5" Type="http://schemas.openxmlformats.org/officeDocument/2006/relationships/image" Target="../media/image17.png"/><Relationship Id="rId15" Type="http://schemas.openxmlformats.org/officeDocument/2006/relationships/image" Target="../media/image24.png"/><Relationship Id="rId10" Type="http://schemas.microsoft.com/office/2007/relationships/hdphoto" Target="../media/hdphoto3.wdp"/><Relationship Id="rId19" Type="http://schemas.openxmlformats.org/officeDocument/2006/relationships/image" Target="../media/image28.png"/><Relationship Id="rId4" Type="http://schemas.microsoft.com/office/2007/relationships/hdphoto" Target="../media/hdphoto1.wdp"/><Relationship Id="rId9" Type="http://schemas.openxmlformats.org/officeDocument/2006/relationships/image" Target="../media/image20.pn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90.png"/></Relationships>
</file>

<file path=ppt/slides/_rels/slide1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microsoft.com/office/2007/relationships/hdphoto" Target="../media/hdphoto7.wdp"/><Relationship Id="rId3" Type="http://schemas.openxmlformats.org/officeDocument/2006/relationships/image" Target="../media/image40.png"/><Relationship Id="rId7"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microsoft.com/office/2007/relationships/hdphoto" Target="../media/hdphoto6.wdp"/><Relationship Id="rId5" Type="http://schemas.openxmlformats.org/officeDocument/2006/relationships/image" Target="../media/image41.png"/><Relationship Id="rId10" Type="http://schemas.microsoft.com/office/2007/relationships/hdphoto" Target="../media/hdphoto8.wdp"/><Relationship Id="rId4" Type="http://schemas.microsoft.com/office/2007/relationships/hdphoto" Target="../media/hdphoto5.wdp"/><Relationship Id="rId9" Type="http://schemas.openxmlformats.org/officeDocument/2006/relationships/image" Target="../media/image4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938952"/>
            <a:ext cx="13042821" cy="2232779"/>
          </a:xfrm>
          <a:prstGeom prst="rect">
            <a:avLst/>
          </a:prstGeom>
          <a:noFill/>
          <a:ln/>
        </p:spPr>
        <p:txBody>
          <a:bodyPr wrap="square" lIns="0" tIns="0" rIns="0" bIns="0" rtlCol="0" anchor="t"/>
          <a:lstStyle/>
          <a:p>
            <a:pPr marL="0" indent="0" algn="l">
              <a:lnSpc>
                <a:spcPts val="5850"/>
              </a:lnSpc>
              <a:buNone/>
            </a:pPr>
            <a:r>
              <a:rPr lang="en-US" sz="4800" dirty="0">
                <a:solidFill>
                  <a:srgbClr val="020202"/>
                </a:solidFill>
                <a:latin typeface="PT Serif" pitchFamily="34" charset="0"/>
                <a:ea typeface="PT Serif" pitchFamily="34" charset="-122"/>
                <a:cs typeface="PT Serif" pitchFamily="34" charset="-120"/>
              </a:rPr>
              <a:t>Data-Driven Optimization for Inventory, Credit Risk, and Supply Chain Management in New-A-One &amp; Co.</a:t>
            </a:r>
            <a:endParaRPr lang="en-US" sz="4800" dirty="0"/>
          </a:p>
        </p:txBody>
      </p:sp>
      <p:sp>
        <p:nvSpPr>
          <p:cNvPr id="3" name="Text 1"/>
          <p:cNvSpPr/>
          <p:nvPr/>
        </p:nvSpPr>
        <p:spPr>
          <a:xfrm>
            <a:off x="749657" y="3541953"/>
            <a:ext cx="13042821" cy="1088708"/>
          </a:xfrm>
          <a:prstGeom prst="rect">
            <a:avLst/>
          </a:prstGeom>
          <a:noFill/>
          <a:ln/>
        </p:spPr>
        <p:txBody>
          <a:bodyPr wrap="square" lIns="0" tIns="0" rIns="0" bIns="0" rtlCol="0" anchor="t"/>
          <a:lstStyle/>
          <a:p>
            <a:pPr algn="l">
              <a:lnSpc>
                <a:spcPts val="3960"/>
              </a:lnSpc>
            </a:pPr>
            <a:r>
              <a:rPr lang="en-US" sz="1800" b="1" dirty="0">
                <a:solidFill>
                  <a:srgbClr val="222222"/>
                </a:solidFill>
                <a:latin typeface="Fira Sans Bold"/>
                <a:ea typeface="Fira Sans Bold"/>
                <a:cs typeface="Fira Sans Bold"/>
                <a:sym typeface="Fira Sans Bold"/>
              </a:rPr>
              <a:t>BDM Capstone Project [Jan 2025]</a:t>
            </a:r>
          </a:p>
        </p:txBody>
      </p:sp>
      <p:sp>
        <p:nvSpPr>
          <p:cNvPr id="4" name="Text 2"/>
          <p:cNvSpPr/>
          <p:nvPr/>
        </p:nvSpPr>
        <p:spPr>
          <a:xfrm>
            <a:off x="793790" y="5023645"/>
            <a:ext cx="13042821" cy="72580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7" name="Text 5"/>
          <p:cNvSpPr/>
          <p:nvPr/>
        </p:nvSpPr>
        <p:spPr>
          <a:xfrm>
            <a:off x="793790" y="6421992"/>
            <a:ext cx="2060377" cy="881632"/>
          </a:xfrm>
          <a:prstGeom prst="rect">
            <a:avLst/>
          </a:prstGeom>
          <a:noFill/>
          <a:ln/>
        </p:spPr>
        <p:txBody>
          <a:bodyPr wrap="none" lIns="0" tIns="0" rIns="0" bIns="0" rtlCol="0" anchor="t"/>
          <a:lstStyle/>
          <a:p>
            <a:pPr marL="0" indent="0" algn="l">
              <a:lnSpc>
                <a:spcPts val="3100"/>
              </a:lnSpc>
              <a:buNone/>
            </a:pPr>
            <a:r>
              <a:rPr lang="en-US" sz="2200" b="1" dirty="0">
                <a:solidFill>
                  <a:srgbClr val="383838"/>
                </a:solidFill>
                <a:latin typeface="DM Sans Bold" pitchFamily="34" charset="0"/>
                <a:ea typeface="DM Sans Bold" pitchFamily="34" charset="-122"/>
                <a:cs typeface="DM Sans Bold" pitchFamily="34" charset="-120"/>
              </a:rPr>
              <a:t>by Aqdas Khan</a:t>
            </a:r>
          </a:p>
          <a:p>
            <a:pPr marL="0" indent="0" algn="l">
              <a:lnSpc>
                <a:spcPts val="3100"/>
              </a:lnSpc>
              <a:buNone/>
            </a:pPr>
            <a:r>
              <a:rPr lang="en-US" sz="2400" dirty="0">
                <a:solidFill>
                  <a:srgbClr val="383838"/>
                </a:solidFill>
                <a:latin typeface="DM Sans" pitchFamily="34" charset="0"/>
                <a:ea typeface="DM Sans" pitchFamily="34" charset="-122"/>
                <a:cs typeface="DM Sans" pitchFamily="34" charset="-120"/>
              </a:rPr>
              <a:t>Roll No: 23f2001156</a:t>
            </a:r>
            <a:endParaRPr lang="en-US" sz="2200" dirty="0"/>
          </a:p>
        </p:txBody>
      </p:sp>
      <p:sp>
        <p:nvSpPr>
          <p:cNvPr id="48" name="Freeform 15"/>
          <p:cNvSpPr/>
          <p:nvPr/>
        </p:nvSpPr>
        <p:spPr>
          <a:xfrm>
            <a:off x="1214104" y="4351102"/>
            <a:ext cx="1384130" cy="1398347"/>
          </a:xfrm>
          <a:custGeom>
            <a:avLst/>
            <a:gdLst/>
            <a:ahLst/>
            <a:cxnLst/>
            <a:rect l="l" t="t" r="r" b="b"/>
            <a:pathLst>
              <a:path w="1626329" h="1626329">
                <a:moveTo>
                  <a:pt x="0" y="0"/>
                </a:moveTo>
                <a:lnTo>
                  <a:pt x="1626329" y="0"/>
                </a:lnTo>
                <a:lnTo>
                  <a:pt x="1626329" y="1626329"/>
                </a:lnTo>
                <a:lnTo>
                  <a:pt x="0" y="1626329"/>
                </a:lnTo>
                <a:lnTo>
                  <a:pt x="0" y="0"/>
                </a:lnTo>
                <a:close/>
              </a:path>
            </a:pathLst>
          </a:custGeom>
          <a:blipFill>
            <a:blip r:embed="rId3"/>
            <a:stretch>
              <a:fillRect/>
            </a:stretch>
          </a:blipFill>
        </p:spPr>
        <p:txBody>
          <a:bodyPr/>
          <a:lstStyle/>
          <a:p>
            <a:endParaRPr lang="en-IN" dirty="0"/>
          </a:p>
        </p:txBody>
      </p:sp>
      <p:sp>
        <p:nvSpPr>
          <p:cNvPr id="49" name="Freeform 10"/>
          <p:cNvSpPr/>
          <p:nvPr/>
        </p:nvSpPr>
        <p:spPr>
          <a:xfrm>
            <a:off x="12056539" y="6049037"/>
            <a:ext cx="919202" cy="745910"/>
          </a:xfrm>
          <a:custGeom>
            <a:avLst/>
            <a:gdLst/>
            <a:ahLst/>
            <a:cxnLst/>
            <a:rect l="l" t="t" r="r" b="b"/>
            <a:pathLst>
              <a:path w="919202" h="745910">
                <a:moveTo>
                  <a:pt x="0" y="0"/>
                </a:moveTo>
                <a:lnTo>
                  <a:pt x="919201" y="0"/>
                </a:lnTo>
                <a:lnTo>
                  <a:pt x="919201" y="745910"/>
                </a:lnTo>
                <a:lnTo>
                  <a:pt x="0" y="7459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b="1" dirty="0">
              <a:ln w="22225">
                <a:solidFill>
                  <a:schemeClr val="accent2"/>
                </a:solidFill>
                <a:prstDash val="solid"/>
              </a:ln>
              <a:solidFill>
                <a:schemeClr val="accent2">
                  <a:lumMod val="40000"/>
                  <a:lumOff val="60000"/>
                </a:schemeClr>
              </a:solidFill>
            </a:endParaRPr>
          </a:p>
        </p:txBody>
      </p:sp>
      <p:sp>
        <p:nvSpPr>
          <p:cNvPr id="50" name="Slide Number Placeholder 49">
            <a:extLst>
              <a:ext uri="{FF2B5EF4-FFF2-40B4-BE49-F238E27FC236}">
                <a16:creationId xmlns:a16="http://schemas.microsoft.com/office/drawing/2014/main" id="{5372E58B-C009-6B42-DD29-D461AE4C9C12}"/>
              </a:ext>
            </a:extLst>
          </p:cNvPr>
          <p:cNvSpPr>
            <a:spLocks noGrp="1"/>
          </p:cNvSpPr>
          <p:nvPr>
            <p:ph type="sldNum" sz="quarter" idx="12"/>
          </p:nvPr>
        </p:nvSpPr>
        <p:spPr/>
        <p:txBody>
          <a:bodyPr/>
          <a:lstStyle/>
          <a:p>
            <a:fld id="{4FAB73BC-B049-4115-A692-8D63A059BFB8}" type="slidenum">
              <a:rPr lang="en-US" smtClean="0"/>
              <a:pPr/>
              <a:t>1</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7785" y="995792"/>
            <a:ext cx="8398073" cy="744260"/>
          </a:xfrm>
          <a:prstGeom prst="rect">
            <a:avLst/>
          </a:prstGeom>
          <a:noFill/>
          <a:ln/>
        </p:spPr>
        <p:txBody>
          <a:bodyPr wrap="none" lIns="0" tIns="0" rIns="0" bIns="0" rtlCol="0" anchor="t"/>
          <a:lstStyle/>
          <a:p>
            <a:pPr marL="0" indent="0" algn="l">
              <a:lnSpc>
                <a:spcPts val="5850"/>
              </a:lnSpc>
              <a:buNone/>
            </a:pPr>
            <a:r>
              <a:rPr lang="en-US" sz="4800" dirty="0">
                <a:solidFill>
                  <a:srgbClr val="020202"/>
                </a:solidFill>
                <a:latin typeface="PT Serif" pitchFamily="34" charset="0"/>
                <a:ea typeface="PT Serif" pitchFamily="34" charset="-122"/>
                <a:cs typeface="PT Serif" pitchFamily="34" charset="-120"/>
              </a:rPr>
              <a:t>The Business and The Problems</a:t>
            </a:r>
            <a:endParaRPr lang="en-US" sz="4800" dirty="0"/>
          </a:p>
        </p:txBody>
      </p:sp>
      <p:sp>
        <p:nvSpPr>
          <p:cNvPr id="3" name="Text 1"/>
          <p:cNvSpPr/>
          <p:nvPr/>
        </p:nvSpPr>
        <p:spPr>
          <a:xfrm>
            <a:off x="793790" y="2035612"/>
            <a:ext cx="12815887" cy="1484300"/>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en-US" dirty="0">
                <a:solidFill>
                  <a:srgbClr val="383838"/>
                </a:solidFill>
                <a:latin typeface="DM Sans" pitchFamily="34" charset="0"/>
                <a:ea typeface="DM Sans" pitchFamily="34" charset="-122"/>
                <a:cs typeface="DM Sans" pitchFamily="34" charset="-120"/>
              </a:rPr>
              <a:t>New A-One Bangles &amp; Co. operates in Firozabad as a B2B wholesale bangle distributor founded by Mr. Izhar Khan. Despite its established presence in the market, the business faces several operational challenges that impact profitability and growth.</a:t>
            </a:r>
            <a:endParaRPr lang="en-US" dirty="0"/>
          </a:p>
        </p:txBody>
      </p:sp>
      <p:sp>
        <p:nvSpPr>
          <p:cNvPr id="4" name="Text 2"/>
          <p:cNvSpPr/>
          <p:nvPr/>
        </p:nvSpPr>
        <p:spPr>
          <a:xfrm>
            <a:off x="793791" y="3621744"/>
            <a:ext cx="13042821" cy="744260"/>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en-US" dirty="0">
                <a:solidFill>
                  <a:srgbClr val="383838"/>
                </a:solidFill>
                <a:latin typeface="DM Sans" pitchFamily="34" charset="0"/>
                <a:ea typeface="DM Sans" pitchFamily="34" charset="-122"/>
                <a:cs typeface="DM Sans" pitchFamily="34" charset="-120"/>
              </a:rPr>
              <a:t>The primary issues identified include significant inventory mismatches between recorded and actual stock levels, substantial payment delays and inefficiencies in the supplier network affecting product availability and quality.</a:t>
            </a:r>
            <a:endParaRPr lang="en-US" dirty="0"/>
          </a:p>
        </p:txBody>
      </p:sp>
      <p:sp>
        <p:nvSpPr>
          <p:cNvPr id="5" name="Text 3"/>
          <p:cNvSpPr/>
          <p:nvPr/>
        </p:nvSpPr>
        <p:spPr>
          <a:xfrm>
            <a:off x="851600" y="4502170"/>
            <a:ext cx="13042821" cy="725805"/>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en-US" dirty="0">
                <a:solidFill>
                  <a:srgbClr val="383838"/>
                </a:solidFill>
                <a:latin typeface="DM Sans" pitchFamily="34" charset="0"/>
                <a:ea typeface="DM Sans" pitchFamily="34" charset="-122"/>
                <a:cs typeface="DM Sans" pitchFamily="34" charset="-120"/>
              </a:rPr>
              <a:t>These problems represent critical areas where data-driven decision making can create immediate business value and establish sustainable operational improvements.</a:t>
            </a:r>
            <a:endParaRPr lang="en-US" dirty="0"/>
          </a:p>
        </p:txBody>
      </p:sp>
      <p:sp>
        <p:nvSpPr>
          <p:cNvPr id="6" name="Shape 4"/>
          <p:cNvSpPr/>
          <p:nvPr/>
        </p:nvSpPr>
        <p:spPr>
          <a:xfrm>
            <a:off x="793790" y="5329807"/>
            <a:ext cx="4196358" cy="2050494"/>
          </a:xfrm>
          <a:prstGeom prst="roundRect">
            <a:avLst>
              <a:gd name="adj" fmla="val 1659"/>
            </a:avLst>
          </a:prstGeom>
          <a:solidFill>
            <a:srgbClr val="F2EEEE"/>
          </a:solidFill>
          <a:ln/>
        </p:spPr>
      </p:sp>
      <p:sp>
        <p:nvSpPr>
          <p:cNvPr id="7" name="Text 5"/>
          <p:cNvSpPr/>
          <p:nvPr/>
        </p:nvSpPr>
        <p:spPr>
          <a:xfrm>
            <a:off x="1020604" y="5568196"/>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Inventory Mismatches</a:t>
            </a:r>
            <a:endParaRPr lang="en-US" sz="2300" dirty="0"/>
          </a:p>
        </p:txBody>
      </p:sp>
      <p:sp>
        <p:nvSpPr>
          <p:cNvPr id="8" name="Text 6"/>
          <p:cNvSpPr/>
          <p:nvPr/>
        </p:nvSpPr>
        <p:spPr>
          <a:xfrm>
            <a:off x="1020604" y="6076355"/>
            <a:ext cx="3742730" cy="1088708"/>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Discrepancies between recorded inventory and actual stock leading to stockouts or excess inventory.</a:t>
            </a:r>
            <a:endParaRPr lang="en-US" dirty="0"/>
          </a:p>
        </p:txBody>
      </p:sp>
      <p:sp>
        <p:nvSpPr>
          <p:cNvPr id="9" name="Shape 7"/>
          <p:cNvSpPr/>
          <p:nvPr/>
        </p:nvSpPr>
        <p:spPr>
          <a:xfrm>
            <a:off x="5216962" y="5341382"/>
            <a:ext cx="4196358" cy="2050494"/>
          </a:xfrm>
          <a:prstGeom prst="roundRect">
            <a:avLst>
              <a:gd name="adj" fmla="val 1659"/>
            </a:avLst>
          </a:prstGeom>
          <a:solidFill>
            <a:srgbClr val="F2EEEE"/>
          </a:solidFill>
          <a:ln/>
        </p:spPr>
      </p:sp>
      <p:sp>
        <p:nvSpPr>
          <p:cNvPr id="10" name="Text 8"/>
          <p:cNvSpPr/>
          <p:nvPr/>
        </p:nvSpPr>
        <p:spPr>
          <a:xfrm>
            <a:off x="5443776" y="5568196"/>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Payment Delays</a:t>
            </a:r>
            <a:endParaRPr lang="en-US" sz="2300" dirty="0"/>
          </a:p>
        </p:txBody>
      </p:sp>
      <p:sp>
        <p:nvSpPr>
          <p:cNvPr id="11" name="Text 9"/>
          <p:cNvSpPr/>
          <p:nvPr/>
        </p:nvSpPr>
        <p:spPr>
          <a:xfrm>
            <a:off x="5443776" y="6076355"/>
            <a:ext cx="3742730" cy="1088708"/>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₹2.56 lakhs in overdue payments affecting cash flow and operational capacity.</a:t>
            </a:r>
            <a:endParaRPr lang="en-US" dirty="0"/>
          </a:p>
        </p:txBody>
      </p:sp>
      <p:sp>
        <p:nvSpPr>
          <p:cNvPr id="12" name="Shape 10"/>
          <p:cNvSpPr/>
          <p:nvPr/>
        </p:nvSpPr>
        <p:spPr>
          <a:xfrm>
            <a:off x="9640133" y="5341382"/>
            <a:ext cx="4196358" cy="2050494"/>
          </a:xfrm>
          <a:prstGeom prst="roundRect">
            <a:avLst>
              <a:gd name="adj" fmla="val 1659"/>
            </a:avLst>
          </a:prstGeom>
          <a:solidFill>
            <a:srgbClr val="F2EEEE"/>
          </a:solidFill>
          <a:ln/>
        </p:spPr>
      </p:sp>
      <p:sp>
        <p:nvSpPr>
          <p:cNvPr id="13" name="Text 11"/>
          <p:cNvSpPr/>
          <p:nvPr/>
        </p:nvSpPr>
        <p:spPr>
          <a:xfrm>
            <a:off x="9866948" y="5568196"/>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Supplier Inefficiencies</a:t>
            </a:r>
            <a:endParaRPr lang="en-US" sz="2300" dirty="0"/>
          </a:p>
        </p:txBody>
      </p:sp>
      <p:sp>
        <p:nvSpPr>
          <p:cNvPr id="14" name="Text 12"/>
          <p:cNvSpPr/>
          <p:nvPr/>
        </p:nvSpPr>
        <p:spPr>
          <a:xfrm>
            <a:off x="9866948" y="6076355"/>
            <a:ext cx="3742730" cy="1088708"/>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Inconsistent quality, delivery delays, and pricing issues across the supplier network.</a:t>
            </a:r>
            <a:endParaRPr lang="en-US" dirty="0"/>
          </a:p>
        </p:txBody>
      </p:sp>
      <p:sp>
        <p:nvSpPr>
          <p:cNvPr id="25" name="Slide Number Placeholder 24">
            <a:extLst>
              <a:ext uri="{FF2B5EF4-FFF2-40B4-BE49-F238E27FC236}">
                <a16:creationId xmlns:a16="http://schemas.microsoft.com/office/drawing/2014/main" id="{4F2D8814-B61D-0BD1-609A-4F0A8A22FBFB}"/>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90920"/>
            <a:ext cx="7034366" cy="558165"/>
          </a:xfrm>
          <a:prstGeom prst="rect">
            <a:avLst/>
          </a:prstGeom>
          <a:noFill/>
          <a:ln/>
        </p:spPr>
        <p:txBody>
          <a:bodyPr wrap="none" lIns="0" tIns="0" rIns="0" bIns="0" rtlCol="0" anchor="t"/>
          <a:lstStyle/>
          <a:p>
            <a:pPr marL="0" indent="0" algn="l">
              <a:lnSpc>
                <a:spcPts val="4350"/>
              </a:lnSpc>
              <a:buNone/>
            </a:pPr>
            <a:r>
              <a:rPr lang="en-US" sz="4400" dirty="0">
                <a:solidFill>
                  <a:srgbClr val="020202"/>
                </a:solidFill>
                <a:latin typeface="PT Serif" pitchFamily="34" charset="0"/>
                <a:ea typeface="PT Serif" pitchFamily="34" charset="-122"/>
                <a:cs typeface="PT Serif" pitchFamily="34" charset="-120"/>
              </a:rPr>
              <a:t>Data Collection and Preprocessing</a:t>
            </a:r>
            <a:endParaRPr lang="en-US" sz="4400" dirty="0"/>
          </a:p>
        </p:txBody>
      </p:sp>
      <p:sp>
        <p:nvSpPr>
          <p:cNvPr id="3" name="Text 1"/>
          <p:cNvSpPr/>
          <p:nvPr/>
        </p:nvSpPr>
        <p:spPr>
          <a:xfrm>
            <a:off x="793790" y="1589246"/>
            <a:ext cx="13042821" cy="544354"/>
          </a:xfrm>
          <a:prstGeom prst="rect">
            <a:avLst/>
          </a:prstGeom>
          <a:noFill/>
          <a:ln/>
        </p:spPr>
        <p:txBody>
          <a:bodyPr wrap="square" lIns="0" tIns="0" rIns="0" bIns="0" rtlCol="0" anchor="t"/>
          <a:lstStyle/>
          <a:p>
            <a:pPr marL="285750" indent="-285750" algn="l">
              <a:lnSpc>
                <a:spcPts val="2100"/>
              </a:lnSpc>
              <a:buFont typeface="Arial" panose="020B0604020202020204" pitchFamily="34" charset="0"/>
              <a:buChar char="•"/>
            </a:pPr>
            <a:r>
              <a:rPr lang="en-US" sz="1600" dirty="0">
                <a:solidFill>
                  <a:srgbClr val="383838"/>
                </a:solidFill>
                <a:latin typeface="DM Sans" pitchFamily="34" charset="0"/>
                <a:ea typeface="DM Sans" pitchFamily="34" charset="-122"/>
                <a:cs typeface="DM Sans" pitchFamily="34" charset="-120"/>
              </a:rPr>
              <a:t>The foundation of my analysis relied on extracting valuable information from traditional record keeping systems. Primary data was collected from handwritten ledgers maintained by the business, covering a seven-month period from June to December 2024.</a:t>
            </a:r>
            <a:endParaRPr lang="en-US" sz="1600" dirty="0"/>
          </a:p>
        </p:txBody>
      </p:sp>
      <p:sp>
        <p:nvSpPr>
          <p:cNvPr id="4" name="Text 2"/>
          <p:cNvSpPr/>
          <p:nvPr/>
        </p:nvSpPr>
        <p:spPr>
          <a:xfrm>
            <a:off x="793790" y="2324933"/>
            <a:ext cx="13042821" cy="544354"/>
          </a:xfrm>
          <a:prstGeom prst="rect">
            <a:avLst/>
          </a:prstGeom>
          <a:noFill/>
          <a:ln/>
        </p:spPr>
        <p:txBody>
          <a:bodyPr wrap="square" lIns="0" tIns="0" rIns="0" bIns="0" rtlCol="0" anchor="t"/>
          <a:lstStyle/>
          <a:p>
            <a:pPr marL="285750" indent="-285750" algn="l">
              <a:lnSpc>
                <a:spcPts val="2100"/>
              </a:lnSpc>
              <a:buFont typeface="Arial" panose="020B0604020202020204" pitchFamily="34" charset="0"/>
              <a:buChar char="•"/>
            </a:pPr>
            <a:r>
              <a:rPr lang="en-US" sz="1600" dirty="0">
                <a:solidFill>
                  <a:srgbClr val="383838"/>
                </a:solidFill>
                <a:latin typeface="DM Sans" pitchFamily="34" charset="0"/>
                <a:ea typeface="DM Sans" pitchFamily="34" charset="-122"/>
                <a:cs typeface="DM Sans" pitchFamily="34" charset="-120"/>
              </a:rPr>
              <a:t>These records contained detailed information on sales transactions, purchase orders, and payment histories. To ensure accuracy, all data points were verified with the store owner, Mr. Izhar Khan, who provided additional context and clarification on business operations.</a:t>
            </a:r>
            <a:endParaRPr lang="en-US" sz="1600" dirty="0"/>
          </a:p>
        </p:txBody>
      </p:sp>
      <p:sp>
        <p:nvSpPr>
          <p:cNvPr id="5" name="Text 3"/>
          <p:cNvSpPr/>
          <p:nvPr/>
        </p:nvSpPr>
        <p:spPr>
          <a:xfrm>
            <a:off x="793790" y="3049470"/>
            <a:ext cx="13042821" cy="544354"/>
          </a:xfrm>
          <a:prstGeom prst="rect">
            <a:avLst/>
          </a:prstGeom>
          <a:noFill/>
          <a:ln/>
        </p:spPr>
        <p:txBody>
          <a:bodyPr wrap="square" lIns="0" tIns="0" rIns="0" bIns="0" rtlCol="0" anchor="t"/>
          <a:lstStyle/>
          <a:p>
            <a:pPr marL="285750" indent="-285750" algn="l">
              <a:lnSpc>
                <a:spcPts val="2100"/>
              </a:lnSpc>
              <a:buFont typeface="Arial" panose="020B0604020202020204" pitchFamily="34" charset="0"/>
              <a:buChar char="•"/>
            </a:pPr>
            <a:r>
              <a:rPr lang="en-US" sz="1600" dirty="0">
                <a:solidFill>
                  <a:srgbClr val="383838"/>
                </a:solidFill>
                <a:latin typeface="DM Sans" pitchFamily="34" charset="0"/>
                <a:ea typeface="DM Sans" pitchFamily="34" charset="-122"/>
                <a:cs typeface="DM Sans" pitchFamily="34" charset="-120"/>
              </a:rPr>
              <a:t>The data was then manually transcribed into Excel spreadsheets, creating a structured digital dataset that could be analyzed using modern analytical tools and techniques.</a:t>
            </a:r>
            <a:endParaRPr lang="en-US" sz="1600" dirty="0"/>
          </a:p>
        </p:txBody>
      </p:sp>
      <p:sp>
        <p:nvSpPr>
          <p:cNvPr id="6" name="Shape 4"/>
          <p:cNvSpPr/>
          <p:nvPr/>
        </p:nvSpPr>
        <p:spPr>
          <a:xfrm>
            <a:off x="7303770" y="3796308"/>
            <a:ext cx="22860" cy="3742253"/>
          </a:xfrm>
          <a:prstGeom prst="roundRect">
            <a:avLst>
              <a:gd name="adj" fmla="val 111628"/>
            </a:avLst>
          </a:prstGeom>
          <a:solidFill>
            <a:srgbClr val="D8D4D4"/>
          </a:solidFill>
          <a:ln/>
        </p:spPr>
      </p:sp>
      <p:sp>
        <p:nvSpPr>
          <p:cNvPr id="7" name="Shape 5"/>
          <p:cNvSpPr/>
          <p:nvPr/>
        </p:nvSpPr>
        <p:spPr>
          <a:xfrm>
            <a:off x="6636425" y="4167545"/>
            <a:ext cx="510302" cy="22860"/>
          </a:xfrm>
          <a:prstGeom prst="roundRect">
            <a:avLst>
              <a:gd name="adj" fmla="val 111628"/>
            </a:avLst>
          </a:prstGeom>
          <a:solidFill>
            <a:srgbClr val="D8D4D4"/>
          </a:solidFill>
          <a:ln/>
        </p:spPr>
      </p:sp>
      <p:sp>
        <p:nvSpPr>
          <p:cNvPr id="8" name="Shape 6"/>
          <p:cNvSpPr/>
          <p:nvPr/>
        </p:nvSpPr>
        <p:spPr>
          <a:xfrm>
            <a:off x="7123867" y="3987641"/>
            <a:ext cx="382667" cy="382667"/>
          </a:xfrm>
          <a:prstGeom prst="roundRect">
            <a:avLst>
              <a:gd name="adj" fmla="val 6669"/>
            </a:avLst>
          </a:prstGeom>
          <a:solidFill>
            <a:srgbClr val="F2EEEE"/>
          </a:solidFill>
          <a:ln/>
        </p:spPr>
      </p:sp>
      <p:pic>
        <p:nvPicPr>
          <p:cNvPr id="9" name="Image 0" descr="preencoded.png"/>
          <p:cNvPicPr>
            <a:picLocks noChangeAspect="1"/>
          </p:cNvPicPr>
          <p:nvPr/>
        </p:nvPicPr>
        <p:blipFill>
          <a:blip r:embed="rId3"/>
          <a:stretch>
            <a:fillRect/>
          </a:stretch>
        </p:blipFill>
        <p:spPr>
          <a:xfrm>
            <a:off x="7181255" y="4011513"/>
            <a:ext cx="267891" cy="334923"/>
          </a:xfrm>
          <a:prstGeom prst="rect">
            <a:avLst/>
          </a:prstGeom>
        </p:spPr>
      </p:pic>
      <p:sp>
        <p:nvSpPr>
          <p:cNvPr id="10" name="Text 7"/>
          <p:cNvSpPr/>
          <p:nvPr/>
        </p:nvSpPr>
        <p:spPr>
          <a:xfrm>
            <a:off x="4231838" y="3966329"/>
            <a:ext cx="2232779" cy="278963"/>
          </a:xfrm>
          <a:prstGeom prst="rect">
            <a:avLst/>
          </a:prstGeom>
          <a:noFill/>
          <a:ln/>
        </p:spPr>
        <p:txBody>
          <a:bodyPr wrap="none" lIns="0" tIns="0" rIns="0" bIns="0" rtlCol="0" anchor="t"/>
          <a:lstStyle/>
          <a:p>
            <a:pPr marL="0" indent="0" algn="r">
              <a:lnSpc>
                <a:spcPts val="2150"/>
              </a:lnSpc>
              <a:buNone/>
            </a:pPr>
            <a:r>
              <a:rPr lang="en-US" sz="1750" dirty="0">
                <a:solidFill>
                  <a:srgbClr val="383838"/>
                </a:solidFill>
                <a:latin typeface="PT Serif" pitchFamily="34" charset="0"/>
                <a:ea typeface="PT Serif" pitchFamily="34" charset="-122"/>
                <a:cs typeface="PT Serif" pitchFamily="34" charset="-120"/>
              </a:rPr>
              <a:t>Source Identification</a:t>
            </a:r>
            <a:endParaRPr lang="en-US" sz="1750" dirty="0"/>
          </a:p>
        </p:txBody>
      </p:sp>
      <p:sp>
        <p:nvSpPr>
          <p:cNvPr id="11" name="Text 8"/>
          <p:cNvSpPr/>
          <p:nvPr/>
        </p:nvSpPr>
        <p:spPr>
          <a:xfrm>
            <a:off x="793790" y="4347329"/>
            <a:ext cx="5670828" cy="272177"/>
          </a:xfrm>
          <a:prstGeom prst="rect">
            <a:avLst/>
          </a:prstGeom>
          <a:noFill/>
          <a:ln/>
        </p:spPr>
        <p:txBody>
          <a:bodyPr wrap="none" lIns="0" tIns="0" rIns="0" bIns="0" rtlCol="0" anchor="t"/>
          <a:lstStyle/>
          <a:p>
            <a:pPr marL="0" indent="0" algn="r">
              <a:lnSpc>
                <a:spcPts val="2100"/>
              </a:lnSpc>
              <a:buNone/>
            </a:pPr>
            <a:r>
              <a:rPr lang="en-US" sz="1300" dirty="0">
                <a:solidFill>
                  <a:srgbClr val="383838"/>
                </a:solidFill>
                <a:latin typeface="DM Sans" pitchFamily="34" charset="0"/>
                <a:ea typeface="DM Sans" pitchFamily="34" charset="-122"/>
                <a:cs typeface="DM Sans" pitchFamily="34" charset="-120"/>
              </a:rPr>
              <a:t>Located relevant handwritten ledgers containing business transactions</a:t>
            </a:r>
            <a:endParaRPr lang="en-US" sz="1300" dirty="0"/>
          </a:p>
        </p:txBody>
      </p:sp>
      <p:sp>
        <p:nvSpPr>
          <p:cNvPr id="12" name="Shape 9"/>
          <p:cNvSpPr/>
          <p:nvPr/>
        </p:nvSpPr>
        <p:spPr>
          <a:xfrm>
            <a:off x="7483673" y="5018008"/>
            <a:ext cx="510302" cy="22860"/>
          </a:xfrm>
          <a:prstGeom prst="roundRect">
            <a:avLst>
              <a:gd name="adj" fmla="val 111628"/>
            </a:avLst>
          </a:prstGeom>
          <a:solidFill>
            <a:srgbClr val="D8D4D4"/>
          </a:solidFill>
          <a:ln/>
        </p:spPr>
      </p:sp>
      <p:sp>
        <p:nvSpPr>
          <p:cNvPr id="13" name="Shape 10"/>
          <p:cNvSpPr/>
          <p:nvPr/>
        </p:nvSpPr>
        <p:spPr>
          <a:xfrm>
            <a:off x="7123867" y="4838105"/>
            <a:ext cx="382667" cy="382667"/>
          </a:xfrm>
          <a:prstGeom prst="roundRect">
            <a:avLst>
              <a:gd name="adj" fmla="val 6669"/>
            </a:avLst>
          </a:prstGeom>
          <a:solidFill>
            <a:srgbClr val="F2EEEE"/>
          </a:solidFill>
          <a:ln/>
        </p:spPr>
      </p:sp>
      <p:pic>
        <p:nvPicPr>
          <p:cNvPr id="14" name="Image 1" descr="preencoded.png"/>
          <p:cNvPicPr>
            <a:picLocks noChangeAspect="1"/>
          </p:cNvPicPr>
          <p:nvPr/>
        </p:nvPicPr>
        <p:blipFill>
          <a:blip r:embed="rId4"/>
          <a:stretch>
            <a:fillRect/>
          </a:stretch>
        </p:blipFill>
        <p:spPr>
          <a:xfrm>
            <a:off x="7181255" y="4861977"/>
            <a:ext cx="267891" cy="334923"/>
          </a:xfrm>
          <a:prstGeom prst="rect">
            <a:avLst/>
          </a:prstGeom>
        </p:spPr>
      </p:pic>
      <p:sp>
        <p:nvSpPr>
          <p:cNvPr id="15" name="Text 11"/>
          <p:cNvSpPr/>
          <p:nvPr/>
        </p:nvSpPr>
        <p:spPr>
          <a:xfrm>
            <a:off x="8165783" y="4816793"/>
            <a:ext cx="2232779" cy="278963"/>
          </a:xfrm>
          <a:prstGeom prst="rect">
            <a:avLst/>
          </a:prstGeom>
          <a:noFill/>
          <a:ln/>
        </p:spPr>
        <p:txBody>
          <a:bodyPr wrap="none" lIns="0" tIns="0" rIns="0" bIns="0" rtlCol="0" anchor="t"/>
          <a:lstStyle/>
          <a:p>
            <a:pPr marL="0" indent="0" algn="l">
              <a:lnSpc>
                <a:spcPts val="2150"/>
              </a:lnSpc>
              <a:buNone/>
            </a:pPr>
            <a:r>
              <a:rPr lang="en-US" sz="1750" dirty="0">
                <a:solidFill>
                  <a:srgbClr val="383838"/>
                </a:solidFill>
                <a:latin typeface="PT Serif" pitchFamily="34" charset="0"/>
                <a:ea typeface="PT Serif" pitchFamily="34" charset="-122"/>
                <a:cs typeface="PT Serif" pitchFamily="34" charset="-120"/>
              </a:rPr>
              <a:t>Verification</a:t>
            </a:r>
            <a:endParaRPr lang="en-US" sz="1750" dirty="0"/>
          </a:p>
        </p:txBody>
      </p:sp>
      <p:sp>
        <p:nvSpPr>
          <p:cNvPr id="16" name="Text 12"/>
          <p:cNvSpPr/>
          <p:nvPr/>
        </p:nvSpPr>
        <p:spPr>
          <a:xfrm>
            <a:off x="8165783" y="5197793"/>
            <a:ext cx="5670828" cy="272177"/>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DM Sans" pitchFamily="34" charset="0"/>
                <a:ea typeface="DM Sans" pitchFamily="34" charset="-122"/>
                <a:cs typeface="DM Sans" pitchFamily="34" charset="-120"/>
              </a:rPr>
              <a:t>Confirmed data accuracy with store owner Mr. Izhar Khan</a:t>
            </a:r>
            <a:endParaRPr lang="en-US" sz="1300" dirty="0"/>
          </a:p>
        </p:txBody>
      </p:sp>
      <p:sp>
        <p:nvSpPr>
          <p:cNvPr id="17" name="Shape 13"/>
          <p:cNvSpPr/>
          <p:nvPr/>
        </p:nvSpPr>
        <p:spPr>
          <a:xfrm>
            <a:off x="6636425" y="5783461"/>
            <a:ext cx="510302" cy="22860"/>
          </a:xfrm>
          <a:prstGeom prst="roundRect">
            <a:avLst>
              <a:gd name="adj" fmla="val 111628"/>
            </a:avLst>
          </a:prstGeom>
          <a:solidFill>
            <a:srgbClr val="D8D4D4"/>
          </a:solidFill>
          <a:ln/>
        </p:spPr>
      </p:sp>
      <p:sp>
        <p:nvSpPr>
          <p:cNvPr id="18" name="Shape 14"/>
          <p:cNvSpPr/>
          <p:nvPr/>
        </p:nvSpPr>
        <p:spPr>
          <a:xfrm>
            <a:off x="7123867" y="5603558"/>
            <a:ext cx="382667" cy="382667"/>
          </a:xfrm>
          <a:prstGeom prst="roundRect">
            <a:avLst>
              <a:gd name="adj" fmla="val 6669"/>
            </a:avLst>
          </a:prstGeom>
          <a:solidFill>
            <a:srgbClr val="F2EEEE"/>
          </a:solidFill>
          <a:ln/>
        </p:spPr>
      </p:sp>
      <p:pic>
        <p:nvPicPr>
          <p:cNvPr id="19" name="Image 2" descr="preencoded.png"/>
          <p:cNvPicPr>
            <a:picLocks noChangeAspect="1"/>
          </p:cNvPicPr>
          <p:nvPr/>
        </p:nvPicPr>
        <p:blipFill>
          <a:blip r:embed="rId5"/>
          <a:stretch>
            <a:fillRect/>
          </a:stretch>
        </p:blipFill>
        <p:spPr>
          <a:xfrm>
            <a:off x="7181255" y="5627430"/>
            <a:ext cx="267891" cy="334923"/>
          </a:xfrm>
          <a:prstGeom prst="rect">
            <a:avLst/>
          </a:prstGeom>
        </p:spPr>
      </p:pic>
      <p:sp>
        <p:nvSpPr>
          <p:cNvPr id="20" name="Text 15"/>
          <p:cNvSpPr/>
          <p:nvPr/>
        </p:nvSpPr>
        <p:spPr>
          <a:xfrm>
            <a:off x="4231838" y="5582245"/>
            <a:ext cx="2232779" cy="278963"/>
          </a:xfrm>
          <a:prstGeom prst="rect">
            <a:avLst/>
          </a:prstGeom>
          <a:noFill/>
          <a:ln/>
        </p:spPr>
        <p:txBody>
          <a:bodyPr wrap="none" lIns="0" tIns="0" rIns="0" bIns="0" rtlCol="0" anchor="t"/>
          <a:lstStyle/>
          <a:p>
            <a:pPr marL="0" indent="0" algn="r">
              <a:lnSpc>
                <a:spcPts val="2150"/>
              </a:lnSpc>
              <a:buNone/>
            </a:pPr>
            <a:r>
              <a:rPr lang="en-US" sz="1750" dirty="0">
                <a:solidFill>
                  <a:srgbClr val="383838"/>
                </a:solidFill>
                <a:latin typeface="PT Serif" pitchFamily="34" charset="0"/>
                <a:ea typeface="PT Serif" pitchFamily="34" charset="-122"/>
                <a:cs typeface="PT Serif" pitchFamily="34" charset="-120"/>
              </a:rPr>
              <a:t>Digital Conversion</a:t>
            </a:r>
            <a:endParaRPr lang="en-US" sz="1750" dirty="0"/>
          </a:p>
        </p:txBody>
      </p:sp>
      <p:sp>
        <p:nvSpPr>
          <p:cNvPr id="21" name="Text 16"/>
          <p:cNvSpPr/>
          <p:nvPr/>
        </p:nvSpPr>
        <p:spPr>
          <a:xfrm>
            <a:off x="793790" y="5963245"/>
            <a:ext cx="5670828" cy="272177"/>
          </a:xfrm>
          <a:prstGeom prst="rect">
            <a:avLst/>
          </a:prstGeom>
          <a:noFill/>
          <a:ln/>
        </p:spPr>
        <p:txBody>
          <a:bodyPr wrap="none" lIns="0" tIns="0" rIns="0" bIns="0" rtlCol="0" anchor="t"/>
          <a:lstStyle/>
          <a:p>
            <a:pPr marL="0" indent="0" algn="r">
              <a:lnSpc>
                <a:spcPts val="2100"/>
              </a:lnSpc>
              <a:buNone/>
            </a:pPr>
            <a:r>
              <a:rPr lang="en-US" sz="1300" dirty="0">
                <a:solidFill>
                  <a:srgbClr val="383838"/>
                </a:solidFill>
                <a:latin typeface="DM Sans" pitchFamily="34" charset="0"/>
                <a:ea typeface="DM Sans" pitchFamily="34" charset="-122"/>
                <a:cs typeface="DM Sans" pitchFamily="34" charset="-120"/>
              </a:rPr>
              <a:t>Manually entered records into Excel for structured analysis</a:t>
            </a:r>
            <a:endParaRPr lang="en-US" sz="1300" dirty="0"/>
          </a:p>
        </p:txBody>
      </p:sp>
      <p:sp>
        <p:nvSpPr>
          <p:cNvPr id="22" name="Shape 17"/>
          <p:cNvSpPr/>
          <p:nvPr/>
        </p:nvSpPr>
        <p:spPr>
          <a:xfrm>
            <a:off x="7483673" y="6548914"/>
            <a:ext cx="510302" cy="22860"/>
          </a:xfrm>
          <a:prstGeom prst="roundRect">
            <a:avLst>
              <a:gd name="adj" fmla="val 111628"/>
            </a:avLst>
          </a:prstGeom>
          <a:solidFill>
            <a:srgbClr val="D8D4D4"/>
          </a:solidFill>
          <a:ln/>
        </p:spPr>
      </p:sp>
      <p:sp>
        <p:nvSpPr>
          <p:cNvPr id="23" name="Shape 18"/>
          <p:cNvSpPr/>
          <p:nvPr/>
        </p:nvSpPr>
        <p:spPr>
          <a:xfrm>
            <a:off x="7123867" y="6369010"/>
            <a:ext cx="382667" cy="382667"/>
          </a:xfrm>
          <a:prstGeom prst="roundRect">
            <a:avLst>
              <a:gd name="adj" fmla="val 6669"/>
            </a:avLst>
          </a:prstGeom>
          <a:solidFill>
            <a:srgbClr val="F2EEEE"/>
          </a:solidFill>
          <a:ln/>
        </p:spPr>
      </p:sp>
      <p:pic>
        <p:nvPicPr>
          <p:cNvPr id="24" name="Image 3" descr="preencoded.png"/>
          <p:cNvPicPr>
            <a:picLocks noChangeAspect="1"/>
          </p:cNvPicPr>
          <p:nvPr/>
        </p:nvPicPr>
        <p:blipFill>
          <a:blip r:embed="rId6"/>
          <a:stretch>
            <a:fillRect/>
          </a:stretch>
        </p:blipFill>
        <p:spPr>
          <a:xfrm>
            <a:off x="7181255" y="6404033"/>
            <a:ext cx="267891" cy="334923"/>
          </a:xfrm>
          <a:prstGeom prst="rect">
            <a:avLst/>
          </a:prstGeom>
        </p:spPr>
      </p:pic>
      <p:sp>
        <p:nvSpPr>
          <p:cNvPr id="25" name="Text 19"/>
          <p:cNvSpPr/>
          <p:nvPr/>
        </p:nvSpPr>
        <p:spPr>
          <a:xfrm>
            <a:off x="8165783" y="6347698"/>
            <a:ext cx="2232779" cy="278963"/>
          </a:xfrm>
          <a:prstGeom prst="rect">
            <a:avLst/>
          </a:prstGeom>
          <a:noFill/>
          <a:ln/>
        </p:spPr>
        <p:txBody>
          <a:bodyPr wrap="none" lIns="0" tIns="0" rIns="0" bIns="0" rtlCol="0" anchor="t"/>
          <a:lstStyle/>
          <a:p>
            <a:pPr marL="0" indent="0" algn="l">
              <a:lnSpc>
                <a:spcPts val="2150"/>
              </a:lnSpc>
              <a:buNone/>
            </a:pPr>
            <a:r>
              <a:rPr lang="en-US" sz="1750" dirty="0">
                <a:solidFill>
                  <a:srgbClr val="383838"/>
                </a:solidFill>
                <a:latin typeface="PT Serif" pitchFamily="34" charset="0"/>
                <a:ea typeface="PT Serif" pitchFamily="34" charset="-122"/>
                <a:cs typeface="PT Serif" pitchFamily="34" charset="-120"/>
              </a:rPr>
              <a:t>Preparation</a:t>
            </a:r>
            <a:endParaRPr lang="en-US" sz="1750" dirty="0"/>
          </a:p>
        </p:txBody>
      </p:sp>
      <p:sp>
        <p:nvSpPr>
          <p:cNvPr id="26" name="Text 20"/>
          <p:cNvSpPr/>
          <p:nvPr/>
        </p:nvSpPr>
        <p:spPr>
          <a:xfrm>
            <a:off x="8165783" y="6728698"/>
            <a:ext cx="5670828" cy="272177"/>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DM Sans" pitchFamily="34" charset="0"/>
                <a:ea typeface="DM Sans" pitchFamily="34" charset="-122"/>
                <a:cs typeface="DM Sans" pitchFamily="34" charset="-120"/>
              </a:rPr>
              <a:t>Organized data for analysis across multiple dimensions</a:t>
            </a:r>
            <a:endParaRPr lang="en-US" sz="1300" dirty="0"/>
          </a:p>
        </p:txBody>
      </p:sp>
      <p:sp>
        <p:nvSpPr>
          <p:cNvPr id="43" name="Slide Number Placeholder 42">
            <a:extLst>
              <a:ext uri="{FF2B5EF4-FFF2-40B4-BE49-F238E27FC236}">
                <a16:creationId xmlns:a16="http://schemas.microsoft.com/office/drawing/2014/main" id="{4D559DB8-8D7C-9B01-9351-1C965FDA1441}"/>
              </a:ext>
            </a:extLst>
          </p:cNvPr>
          <p:cNvSpPr>
            <a:spLocks noGrp="1"/>
          </p:cNvSpPr>
          <p:nvPr>
            <p:ph type="sldNum" sz="quarter" idx="12"/>
          </p:nvPr>
        </p:nvSpPr>
        <p:spPr/>
        <p:txBody>
          <a:bodyPr/>
          <a:lstStyle/>
          <a:p>
            <a:fld id="{4FAB73BC-B049-4115-A692-8D63A059BFB8}"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95444"/>
            <a:ext cx="5656421" cy="706993"/>
          </a:xfrm>
          <a:prstGeom prst="rect">
            <a:avLst/>
          </a:prstGeom>
          <a:noFill/>
          <a:ln/>
        </p:spPr>
        <p:txBody>
          <a:bodyPr wrap="none" lIns="0" tIns="0" rIns="0" bIns="0" rtlCol="0" anchor="t"/>
          <a:lstStyle/>
          <a:p>
            <a:pPr marL="0" indent="0" algn="l">
              <a:lnSpc>
                <a:spcPts val="5550"/>
              </a:lnSpc>
              <a:buNone/>
            </a:pPr>
            <a:r>
              <a:rPr lang="en-US" sz="4400" dirty="0">
                <a:solidFill>
                  <a:srgbClr val="020202"/>
                </a:solidFill>
                <a:latin typeface="PT Serif" pitchFamily="34" charset="0"/>
                <a:ea typeface="PT Serif" pitchFamily="34" charset="-122"/>
                <a:cs typeface="PT Serif" pitchFamily="34" charset="-120"/>
              </a:rPr>
              <a:t>Analysis Methods</a:t>
            </a:r>
            <a:endParaRPr lang="en-US" sz="4400" dirty="0"/>
          </a:p>
        </p:txBody>
      </p:sp>
      <p:sp>
        <p:nvSpPr>
          <p:cNvPr id="3" name="Text 1"/>
          <p:cNvSpPr/>
          <p:nvPr/>
        </p:nvSpPr>
        <p:spPr>
          <a:xfrm>
            <a:off x="793790" y="1833324"/>
            <a:ext cx="13042821" cy="1034415"/>
          </a:xfrm>
          <a:prstGeom prst="rect">
            <a:avLst/>
          </a:prstGeom>
          <a:noFill/>
          <a:ln/>
        </p:spPr>
        <p:txBody>
          <a:bodyPr wrap="square" lIns="0" tIns="0" rIns="0" bIns="0" rtlCol="0" anchor="t"/>
          <a:lstStyle/>
          <a:p>
            <a:pPr marL="285750" indent="-285750" algn="l">
              <a:lnSpc>
                <a:spcPts val="2700"/>
              </a:lnSpc>
              <a:buFont typeface="Arial" panose="020B0604020202020204" pitchFamily="34" charset="0"/>
              <a:buChar char="•"/>
            </a:pPr>
            <a:r>
              <a:rPr lang="en-US" sz="1600" dirty="0">
                <a:solidFill>
                  <a:srgbClr val="383838"/>
                </a:solidFill>
                <a:latin typeface="DM Sans" pitchFamily="34" charset="0"/>
                <a:ea typeface="DM Sans" pitchFamily="34" charset="-122"/>
                <a:cs typeface="DM Sans" pitchFamily="34" charset="-120"/>
              </a:rPr>
              <a:t>The analytical approach combined multiple tools and techniques to extract meaningful insights from the collected data. I utilized Excel for initial data organization, Python for advanced statistical analysis, visualization of complex patterns.</a:t>
            </a:r>
            <a:endParaRPr lang="en-US" sz="1600" dirty="0"/>
          </a:p>
        </p:txBody>
      </p:sp>
      <p:sp>
        <p:nvSpPr>
          <p:cNvPr id="4" name="Text 2"/>
          <p:cNvSpPr/>
          <p:nvPr/>
        </p:nvSpPr>
        <p:spPr>
          <a:xfrm>
            <a:off x="793790" y="2770763"/>
            <a:ext cx="13042821" cy="1034415"/>
          </a:xfrm>
          <a:prstGeom prst="rect">
            <a:avLst/>
          </a:prstGeom>
          <a:noFill/>
          <a:ln/>
        </p:spPr>
        <p:txBody>
          <a:bodyPr wrap="square" lIns="0" tIns="0" rIns="0" bIns="0" rtlCol="0" anchor="t"/>
          <a:lstStyle/>
          <a:p>
            <a:pPr marL="285750" indent="-285750" algn="l">
              <a:lnSpc>
                <a:spcPts val="2700"/>
              </a:lnSpc>
              <a:buFont typeface="Arial" panose="020B0604020202020204" pitchFamily="34" charset="0"/>
              <a:buChar char="•"/>
            </a:pPr>
            <a:r>
              <a:rPr lang="en-US" sz="1600" dirty="0">
                <a:solidFill>
                  <a:srgbClr val="383838"/>
                </a:solidFill>
                <a:latin typeface="DM Sans" pitchFamily="34" charset="0"/>
                <a:ea typeface="DM Sans" pitchFamily="34" charset="-122"/>
                <a:cs typeface="DM Sans" pitchFamily="34" charset="-120"/>
              </a:rPr>
              <a:t>For inventory optimization,  implemented ABC Analysis to categorize products based on their contribution to overall sales.</a:t>
            </a:r>
          </a:p>
          <a:p>
            <a:pPr marL="285750" indent="-285750" algn="l">
              <a:lnSpc>
                <a:spcPts val="2700"/>
              </a:lnSpc>
              <a:buFont typeface="Arial" panose="020B0604020202020204" pitchFamily="34" charset="0"/>
              <a:buChar char="•"/>
            </a:pPr>
            <a:endParaRPr lang="en-US" sz="1600" dirty="0">
              <a:solidFill>
                <a:srgbClr val="383838"/>
              </a:solidFill>
              <a:latin typeface="DM Sans" pitchFamily="34" charset="0"/>
              <a:ea typeface="DM Sans" pitchFamily="34" charset="-122"/>
              <a:cs typeface="DM Sans" pitchFamily="34" charset="-120"/>
            </a:endParaRPr>
          </a:p>
          <a:p>
            <a:pPr marL="285750" indent="-285750" algn="l">
              <a:lnSpc>
                <a:spcPts val="2700"/>
              </a:lnSpc>
              <a:buFont typeface="Arial" panose="020B0604020202020204" pitchFamily="34" charset="0"/>
              <a:buChar char="•"/>
            </a:pPr>
            <a:r>
              <a:rPr lang="en-US" sz="1600" dirty="0">
                <a:solidFill>
                  <a:srgbClr val="383838"/>
                </a:solidFill>
                <a:latin typeface="DM Sans" pitchFamily="34" charset="0"/>
                <a:ea typeface="DM Sans" pitchFamily="34" charset="-122"/>
                <a:cs typeface="DM Sans" pitchFamily="34" charset="-120"/>
              </a:rPr>
              <a:t> Customer payment behavior was analyzed through credit scoring and K-Means clustering to identify distinct risk profiles. Sales forecasting leveraged ARIMA models to predict future demand patterns.</a:t>
            </a:r>
            <a:endParaRPr lang="en-US" sz="1600" dirty="0"/>
          </a:p>
        </p:txBody>
      </p:sp>
      <p:sp>
        <p:nvSpPr>
          <p:cNvPr id="5" name="Text 3"/>
          <p:cNvSpPr/>
          <p:nvPr/>
        </p:nvSpPr>
        <p:spPr>
          <a:xfrm>
            <a:off x="793790" y="4386977"/>
            <a:ext cx="13042821" cy="689610"/>
          </a:xfrm>
          <a:prstGeom prst="rect">
            <a:avLst/>
          </a:prstGeom>
          <a:noFill/>
          <a:ln/>
        </p:spPr>
        <p:txBody>
          <a:bodyPr wrap="square" lIns="0" tIns="0" rIns="0" bIns="0" rtlCol="0" anchor="t"/>
          <a:lstStyle/>
          <a:p>
            <a:pPr marL="285750" indent="-285750" algn="l">
              <a:lnSpc>
                <a:spcPts val="2700"/>
              </a:lnSpc>
              <a:buFont typeface="Arial" panose="020B0604020202020204" pitchFamily="34" charset="0"/>
              <a:buChar char="•"/>
            </a:pPr>
            <a:r>
              <a:rPr lang="en-US" sz="1600" dirty="0">
                <a:solidFill>
                  <a:srgbClr val="383838"/>
                </a:solidFill>
                <a:latin typeface="DM Sans" pitchFamily="34" charset="0"/>
                <a:ea typeface="DM Sans" pitchFamily="34" charset="-122"/>
                <a:cs typeface="DM Sans" pitchFamily="34" charset="-120"/>
              </a:rPr>
              <a:t>Supplier performance was evaluated using a comprehensive scorecard system and visualized through  plots to identify optimal partners based on quality, cost, and reliability metrics.</a:t>
            </a:r>
            <a:endParaRPr lang="en-US" sz="1600" dirty="0"/>
          </a:p>
        </p:txBody>
      </p:sp>
      <p:pic>
        <p:nvPicPr>
          <p:cNvPr id="6" name="Image 0" descr="preencoded.png"/>
          <p:cNvPicPr>
            <a:picLocks noChangeAspect="1"/>
          </p:cNvPicPr>
          <p:nvPr/>
        </p:nvPicPr>
        <p:blipFill>
          <a:blip r:embed="rId3"/>
          <a:stretch>
            <a:fillRect/>
          </a:stretch>
        </p:blipFill>
        <p:spPr>
          <a:xfrm>
            <a:off x="793790" y="5356622"/>
            <a:ext cx="538639" cy="538639"/>
          </a:xfrm>
          <a:prstGeom prst="rect">
            <a:avLst/>
          </a:prstGeom>
        </p:spPr>
      </p:pic>
      <p:sp>
        <p:nvSpPr>
          <p:cNvPr id="7" name="Text 4"/>
          <p:cNvSpPr/>
          <p:nvPr/>
        </p:nvSpPr>
        <p:spPr>
          <a:xfrm>
            <a:off x="1547813" y="5318998"/>
            <a:ext cx="2264331" cy="353378"/>
          </a:xfrm>
          <a:prstGeom prst="rect">
            <a:avLst/>
          </a:prstGeom>
          <a:noFill/>
          <a:ln/>
        </p:spPr>
        <p:txBody>
          <a:bodyPr wrap="none" lIns="0" tIns="0" rIns="0" bIns="0" rtlCol="0" anchor="t"/>
          <a:lstStyle/>
          <a:p>
            <a:pPr marL="0" indent="0" algn="l">
              <a:lnSpc>
                <a:spcPts val="2750"/>
              </a:lnSpc>
              <a:buNone/>
            </a:pPr>
            <a:r>
              <a:rPr lang="en-US" sz="2200" dirty="0">
                <a:solidFill>
                  <a:srgbClr val="383838"/>
                </a:solidFill>
                <a:latin typeface="PT Serif" pitchFamily="34" charset="0"/>
                <a:ea typeface="PT Serif" pitchFamily="34" charset="-122"/>
                <a:cs typeface="PT Serif" pitchFamily="34" charset="-120"/>
              </a:rPr>
              <a:t>ABC Analysis</a:t>
            </a:r>
            <a:endParaRPr lang="en-US" sz="2200" dirty="0"/>
          </a:p>
        </p:txBody>
      </p:sp>
      <p:sp>
        <p:nvSpPr>
          <p:cNvPr id="8" name="Text 5"/>
          <p:cNvSpPr/>
          <p:nvPr/>
        </p:nvSpPr>
        <p:spPr>
          <a:xfrm>
            <a:off x="1547813" y="5801558"/>
            <a:ext cx="2264331" cy="1379220"/>
          </a:xfrm>
          <a:prstGeom prst="rect">
            <a:avLst/>
          </a:prstGeom>
          <a:noFill/>
          <a:ln/>
        </p:spPr>
        <p:txBody>
          <a:bodyPr wrap="square" lIns="0" tIns="0" rIns="0" bIns="0" rtlCol="0" anchor="t"/>
          <a:lstStyle/>
          <a:p>
            <a:pPr marL="0" indent="0" algn="l">
              <a:lnSpc>
                <a:spcPts val="2700"/>
              </a:lnSpc>
              <a:buNone/>
            </a:pPr>
            <a:r>
              <a:rPr lang="en-US" sz="1650" dirty="0">
                <a:solidFill>
                  <a:srgbClr val="383838"/>
                </a:solidFill>
                <a:latin typeface="DM Sans" pitchFamily="34" charset="0"/>
                <a:ea typeface="DM Sans" pitchFamily="34" charset="-122"/>
                <a:cs typeface="DM Sans" pitchFamily="34" charset="-120"/>
              </a:rPr>
              <a:t>Categorized inventory items based on sales volume and value contribution</a:t>
            </a:r>
            <a:endParaRPr lang="en-US" sz="1650" dirty="0"/>
          </a:p>
        </p:txBody>
      </p:sp>
      <p:pic>
        <p:nvPicPr>
          <p:cNvPr id="9" name="Image 1" descr="preencoded.png"/>
          <p:cNvPicPr>
            <a:picLocks noChangeAspect="1"/>
          </p:cNvPicPr>
          <p:nvPr/>
        </p:nvPicPr>
        <p:blipFill>
          <a:blip r:embed="rId4"/>
          <a:stretch>
            <a:fillRect/>
          </a:stretch>
        </p:blipFill>
        <p:spPr>
          <a:xfrm>
            <a:off x="4135279" y="5356622"/>
            <a:ext cx="538639" cy="538639"/>
          </a:xfrm>
          <a:prstGeom prst="rect">
            <a:avLst/>
          </a:prstGeom>
        </p:spPr>
      </p:pic>
      <p:sp>
        <p:nvSpPr>
          <p:cNvPr id="10" name="Text 6"/>
          <p:cNvSpPr/>
          <p:nvPr/>
        </p:nvSpPr>
        <p:spPr>
          <a:xfrm>
            <a:off x="4889302" y="5318998"/>
            <a:ext cx="2264331" cy="706755"/>
          </a:xfrm>
          <a:prstGeom prst="rect">
            <a:avLst/>
          </a:prstGeom>
          <a:noFill/>
          <a:ln/>
        </p:spPr>
        <p:txBody>
          <a:bodyPr wrap="square" lIns="0" tIns="0" rIns="0" bIns="0" rtlCol="0" anchor="t"/>
          <a:lstStyle/>
          <a:p>
            <a:pPr marL="0" indent="0" algn="l">
              <a:lnSpc>
                <a:spcPts val="2750"/>
              </a:lnSpc>
              <a:buNone/>
            </a:pPr>
            <a:r>
              <a:rPr lang="en-US" sz="2200" dirty="0">
                <a:solidFill>
                  <a:srgbClr val="383838"/>
                </a:solidFill>
                <a:latin typeface="PT Serif" pitchFamily="34" charset="0"/>
                <a:ea typeface="PT Serif" pitchFamily="34" charset="-122"/>
                <a:cs typeface="PT Serif" pitchFamily="34" charset="-120"/>
              </a:rPr>
              <a:t>Credit Scoring &amp; Clustering</a:t>
            </a:r>
            <a:endParaRPr lang="en-US" sz="2200" dirty="0"/>
          </a:p>
        </p:txBody>
      </p:sp>
      <p:sp>
        <p:nvSpPr>
          <p:cNvPr id="11" name="Text 7"/>
          <p:cNvSpPr/>
          <p:nvPr/>
        </p:nvSpPr>
        <p:spPr>
          <a:xfrm>
            <a:off x="4889302" y="6154936"/>
            <a:ext cx="2264331" cy="1379220"/>
          </a:xfrm>
          <a:prstGeom prst="rect">
            <a:avLst/>
          </a:prstGeom>
          <a:noFill/>
          <a:ln/>
        </p:spPr>
        <p:txBody>
          <a:bodyPr wrap="square" lIns="0" tIns="0" rIns="0" bIns="0" rtlCol="0" anchor="t"/>
          <a:lstStyle/>
          <a:p>
            <a:pPr marL="0" indent="0" algn="l">
              <a:lnSpc>
                <a:spcPts val="2700"/>
              </a:lnSpc>
              <a:buNone/>
            </a:pPr>
            <a:r>
              <a:rPr lang="en-US" sz="1650" dirty="0">
                <a:solidFill>
                  <a:srgbClr val="383838"/>
                </a:solidFill>
                <a:latin typeface="DM Sans" pitchFamily="34" charset="0"/>
                <a:ea typeface="DM Sans" pitchFamily="34" charset="-122"/>
                <a:cs typeface="DM Sans" pitchFamily="34" charset="-120"/>
              </a:rPr>
              <a:t>Identified customer payment patterns using K-Means algorithm</a:t>
            </a:r>
            <a:endParaRPr lang="en-US" sz="1650" dirty="0"/>
          </a:p>
        </p:txBody>
      </p:sp>
      <p:pic>
        <p:nvPicPr>
          <p:cNvPr id="12" name="Image 2" descr="preencoded.png"/>
          <p:cNvPicPr>
            <a:picLocks noChangeAspect="1"/>
          </p:cNvPicPr>
          <p:nvPr/>
        </p:nvPicPr>
        <p:blipFill>
          <a:blip r:embed="rId5"/>
          <a:stretch>
            <a:fillRect/>
          </a:stretch>
        </p:blipFill>
        <p:spPr>
          <a:xfrm>
            <a:off x="7476768" y="5356622"/>
            <a:ext cx="538639" cy="538639"/>
          </a:xfrm>
          <a:prstGeom prst="rect">
            <a:avLst/>
          </a:prstGeom>
        </p:spPr>
      </p:pic>
      <p:sp>
        <p:nvSpPr>
          <p:cNvPr id="13" name="Text 8"/>
          <p:cNvSpPr/>
          <p:nvPr/>
        </p:nvSpPr>
        <p:spPr>
          <a:xfrm>
            <a:off x="8230791" y="5318998"/>
            <a:ext cx="2264331" cy="706755"/>
          </a:xfrm>
          <a:prstGeom prst="rect">
            <a:avLst/>
          </a:prstGeom>
          <a:noFill/>
          <a:ln/>
        </p:spPr>
        <p:txBody>
          <a:bodyPr wrap="square" lIns="0" tIns="0" rIns="0" bIns="0" rtlCol="0" anchor="t"/>
          <a:lstStyle/>
          <a:p>
            <a:pPr marL="0" indent="0" algn="l">
              <a:lnSpc>
                <a:spcPts val="2750"/>
              </a:lnSpc>
              <a:buNone/>
            </a:pPr>
            <a:r>
              <a:rPr lang="en-US" sz="2200" dirty="0">
                <a:solidFill>
                  <a:srgbClr val="383838"/>
                </a:solidFill>
                <a:latin typeface="PT Serif" pitchFamily="34" charset="0"/>
                <a:ea typeface="PT Serif" pitchFamily="34" charset="-122"/>
                <a:cs typeface="PT Serif" pitchFamily="34" charset="-120"/>
              </a:rPr>
              <a:t>ARIMA Forecasting</a:t>
            </a:r>
            <a:endParaRPr lang="en-US" sz="2200" dirty="0"/>
          </a:p>
        </p:txBody>
      </p:sp>
      <p:sp>
        <p:nvSpPr>
          <p:cNvPr id="14" name="Text 9"/>
          <p:cNvSpPr/>
          <p:nvPr/>
        </p:nvSpPr>
        <p:spPr>
          <a:xfrm>
            <a:off x="8230791" y="6154936"/>
            <a:ext cx="2264331" cy="1034415"/>
          </a:xfrm>
          <a:prstGeom prst="rect">
            <a:avLst/>
          </a:prstGeom>
          <a:noFill/>
          <a:ln/>
        </p:spPr>
        <p:txBody>
          <a:bodyPr wrap="square" lIns="0" tIns="0" rIns="0" bIns="0" rtlCol="0" anchor="t"/>
          <a:lstStyle/>
          <a:p>
            <a:pPr marL="0" indent="0" algn="l">
              <a:lnSpc>
                <a:spcPts val="2700"/>
              </a:lnSpc>
              <a:buNone/>
            </a:pPr>
            <a:r>
              <a:rPr lang="en-US" sz="1650" dirty="0">
                <a:solidFill>
                  <a:srgbClr val="383838"/>
                </a:solidFill>
                <a:latin typeface="DM Sans" pitchFamily="34" charset="0"/>
                <a:ea typeface="DM Sans" pitchFamily="34" charset="-122"/>
                <a:cs typeface="DM Sans" pitchFamily="34" charset="-120"/>
              </a:rPr>
              <a:t>Predicted future sales trends based on historical patterns</a:t>
            </a:r>
            <a:endParaRPr lang="en-US" sz="1650" dirty="0"/>
          </a:p>
        </p:txBody>
      </p:sp>
      <p:pic>
        <p:nvPicPr>
          <p:cNvPr id="15" name="Image 3" descr="preencoded.png"/>
          <p:cNvPicPr>
            <a:picLocks noChangeAspect="1"/>
          </p:cNvPicPr>
          <p:nvPr/>
        </p:nvPicPr>
        <p:blipFill>
          <a:blip r:embed="rId6"/>
          <a:stretch>
            <a:fillRect/>
          </a:stretch>
        </p:blipFill>
        <p:spPr>
          <a:xfrm>
            <a:off x="10818257" y="5356622"/>
            <a:ext cx="538639" cy="538639"/>
          </a:xfrm>
          <a:prstGeom prst="rect">
            <a:avLst/>
          </a:prstGeom>
        </p:spPr>
      </p:pic>
      <p:sp>
        <p:nvSpPr>
          <p:cNvPr id="16" name="Text 10"/>
          <p:cNvSpPr/>
          <p:nvPr/>
        </p:nvSpPr>
        <p:spPr>
          <a:xfrm>
            <a:off x="11572280" y="5318998"/>
            <a:ext cx="2264331" cy="706755"/>
          </a:xfrm>
          <a:prstGeom prst="rect">
            <a:avLst/>
          </a:prstGeom>
          <a:noFill/>
          <a:ln/>
        </p:spPr>
        <p:txBody>
          <a:bodyPr wrap="square" lIns="0" tIns="0" rIns="0" bIns="0" rtlCol="0" anchor="t"/>
          <a:lstStyle/>
          <a:p>
            <a:pPr marL="0" indent="0" algn="l">
              <a:lnSpc>
                <a:spcPts val="2750"/>
              </a:lnSpc>
              <a:buNone/>
            </a:pPr>
            <a:r>
              <a:rPr lang="en-US" sz="2200" dirty="0">
                <a:solidFill>
                  <a:srgbClr val="383838"/>
                </a:solidFill>
                <a:latin typeface="PT Serif" pitchFamily="34" charset="0"/>
                <a:ea typeface="PT Serif" pitchFamily="34" charset="-122"/>
                <a:cs typeface="PT Serif" pitchFamily="34" charset="-120"/>
              </a:rPr>
              <a:t>Supplier Evaluation</a:t>
            </a:r>
            <a:endParaRPr lang="en-US" sz="2200" dirty="0"/>
          </a:p>
        </p:txBody>
      </p:sp>
      <p:sp>
        <p:nvSpPr>
          <p:cNvPr id="17" name="Text 11"/>
          <p:cNvSpPr/>
          <p:nvPr/>
        </p:nvSpPr>
        <p:spPr>
          <a:xfrm>
            <a:off x="11572280" y="6154936"/>
            <a:ext cx="2264331" cy="1379220"/>
          </a:xfrm>
          <a:prstGeom prst="rect">
            <a:avLst/>
          </a:prstGeom>
          <a:noFill/>
          <a:ln/>
        </p:spPr>
        <p:txBody>
          <a:bodyPr wrap="square" lIns="0" tIns="0" rIns="0" bIns="0" rtlCol="0" anchor="t"/>
          <a:lstStyle/>
          <a:p>
            <a:pPr marL="0" indent="0" algn="l">
              <a:lnSpc>
                <a:spcPts val="2700"/>
              </a:lnSpc>
              <a:buNone/>
            </a:pPr>
            <a:r>
              <a:rPr lang="en-US" sz="1650" dirty="0">
                <a:solidFill>
                  <a:srgbClr val="383838"/>
                </a:solidFill>
                <a:latin typeface="DM Sans" pitchFamily="34" charset="0"/>
                <a:ea typeface="DM Sans" pitchFamily="34" charset="-122"/>
                <a:cs typeface="DM Sans" pitchFamily="34" charset="-120"/>
              </a:rPr>
              <a:t>Created scorecards to assess supplier performance across key metrics</a:t>
            </a:r>
            <a:endParaRPr lang="en-US" sz="1650" dirty="0"/>
          </a:p>
        </p:txBody>
      </p:sp>
      <p:sp>
        <p:nvSpPr>
          <p:cNvPr id="28" name="Slide Number Placeholder 27">
            <a:extLst>
              <a:ext uri="{FF2B5EF4-FFF2-40B4-BE49-F238E27FC236}">
                <a16:creationId xmlns:a16="http://schemas.microsoft.com/office/drawing/2014/main" id="{369C61F5-3DEF-2863-EC91-19F52F8BA987}"/>
              </a:ext>
            </a:extLst>
          </p:cNvPr>
          <p:cNvSpPr>
            <a:spLocks noGrp="1"/>
          </p:cNvSpPr>
          <p:nvPr>
            <p:ph type="sldNum" sz="quarter" idx="12"/>
          </p:nvPr>
        </p:nvSpPr>
        <p:spPr/>
        <p:txBody>
          <a:bodyPr/>
          <a:lstStyle/>
          <a:p>
            <a:fld id="{4FAB73BC-B049-4115-A692-8D63A059BFB8}"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1011" y="501805"/>
            <a:ext cx="8299604" cy="302646"/>
          </a:xfrm>
          <a:prstGeom prst="rect">
            <a:avLst/>
          </a:prstGeom>
          <a:noFill/>
          <a:ln/>
        </p:spPr>
        <p:txBody>
          <a:bodyPr wrap="none" lIns="0" tIns="0" rIns="0" bIns="0" rtlCol="0" anchor="t"/>
          <a:lstStyle/>
          <a:p>
            <a:pPr marL="0" indent="0" algn="l">
              <a:lnSpc>
                <a:spcPts val="2900"/>
              </a:lnSpc>
              <a:buNone/>
            </a:pPr>
            <a:r>
              <a:rPr lang="en-US" sz="4400" dirty="0">
                <a:solidFill>
                  <a:srgbClr val="020202"/>
                </a:solidFill>
                <a:latin typeface="PT Serif" pitchFamily="34" charset="0"/>
                <a:ea typeface="PT Serif" pitchFamily="34" charset="-122"/>
                <a:cs typeface="PT Serif" pitchFamily="34" charset="-120"/>
              </a:rPr>
              <a:t>Inventory Analysis Results</a:t>
            </a:r>
          </a:p>
          <a:p>
            <a:pPr marL="0" indent="0" algn="l">
              <a:lnSpc>
                <a:spcPts val="2900"/>
              </a:lnSpc>
              <a:buNone/>
            </a:pPr>
            <a:endParaRPr lang="en-US" sz="4400" dirty="0">
              <a:solidFill>
                <a:srgbClr val="020202"/>
              </a:solidFill>
              <a:latin typeface="PT Serif" pitchFamily="34" charset="0"/>
              <a:ea typeface="PT Serif" pitchFamily="34" charset="-122"/>
              <a:cs typeface="PT Serif" pitchFamily="34" charset="-120"/>
            </a:endParaRPr>
          </a:p>
          <a:p>
            <a:pPr marL="0" indent="0" algn="l">
              <a:lnSpc>
                <a:spcPts val="2900"/>
              </a:lnSpc>
              <a:buNone/>
            </a:pPr>
            <a:endParaRPr lang="en-US" sz="4400" dirty="0">
              <a:solidFill>
                <a:srgbClr val="020202"/>
              </a:solidFill>
              <a:latin typeface="PT Serif" pitchFamily="34" charset="0"/>
            </a:endParaRPr>
          </a:p>
          <a:p>
            <a:pPr marL="0" indent="0" algn="l">
              <a:lnSpc>
                <a:spcPts val="2900"/>
              </a:lnSpc>
              <a:buNone/>
            </a:pPr>
            <a:endParaRPr lang="en-US" sz="4400" dirty="0"/>
          </a:p>
        </p:txBody>
      </p:sp>
      <p:sp>
        <p:nvSpPr>
          <p:cNvPr id="3" name="Text 1"/>
          <p:cNvSpPr/>
          <p:nvPr/>
        </p:nvSpPr>
        <p:spPr>
          <a:xfrm>
            <a:off x="433202" y="1037371"/>
            <a:ext cx="13836729" cy="405181"/>
          </a:xfrm>
          <a:prstGeom prst="rect">
            <a:avLst/>
          </a:prstGeom>
          <a:noFill/>
          <a:ln/>
        </p:spPr>
        <p:txBody>
          <a:bodyPr wrap="square" lIns="0" tIns="0" rIns="0" bIns="0" rtlCol="0" anchor="t"/>
          <a:lstStyle/>
          <a:p>
            <a:pPr marL="171450" indent="-171450" algn="l">
              <a:lnSpc>
                <a:spcPct val="150000"/>
              </a:lnSpc>
              <a:buFont typeface="Arial" panose="020B0604020202020204" pitchFamily="34" charset="0"/>
              <a:buChar char="•"/>
            </a:pPr>
            <a:r>
              <a:rPr lang="en-US" sz="1400" dirty="0">
                <a:solidFill>
                  <a:srgbClr val="383838"/>
                </a:solidFill>
                <a:latin typeface="DM Sans" pitchFamily="34" charset="0"/>
                <a:ea typeface="DM Sans" pitchFamily="34" charset="-122"/>
                <a:cs typeface="DM Sans" pitchFamily="34" charset="-120"/>
              </a:rPr>
              <a:t>The inventory analysis revealed critical insights into product performance and stock management challenges. The ABC classification identified key product categories that drive business revenue, while highlighting discrepancies between inventory records and actual stock levels.</a:t>
            </a:r>
            <a:endParaRPr lang="en-US" sz="1400" dirty="0"/>
          </a:p>
        </p:txBody>
      </p:sp>
      <p:sp>
        <p:nvSpPr>
          <p:cNvPr id="4" name="Text 2"/>
          <p:cNvSpPr/>
          <p:nvPr/>
        </p:nvSpPr>
        <p:spPr>
          <a:xfrm>
            <a:off x="408571" y="1747012"/>
            <a:ext cx="13899541" cy="698287"/>
          </a:xfrm>
          <a:prstGeom prst="rect">
            <a:avLst/>
          </a:prstGeom>
          <a:noFill/>
          <a:ln/>
        </p:spPr>
        <p:txBody>
          <a:bodyPr wrap="square" lIns="0" tIns="0" rIns="0" bIns="0" rtlCol="0" anchor="t"/>
          <a:lstStyle/>
          <a:p>
            <a:pPr marL="171450" indent="-171450" algn="l">
              <a:lnSpc>
                <a:spcPct val="150000"/>
              </a:lnSpc>
              <a:buFont typeface="Arial" panose="020B0604020202020204" pitchFamily="34" charset="0"/>
              <a:buChar char="•"/>
            </a:pPr>
            <a:r>
              <a:rPr lang="en-US" sz="1400" dirty="0">
                <a:solidFill>
                  <a:srgbClr val="383838"/>
                </a:solidFill>
                <a:latin typeface="DM Sans" pitchFamily="34" charset="0"/>
                <a:ea typeface="DM Sans" pitchFamily="34" charset="-122"/>
                <a:cs typeface="DM Sans" pitchFamily="34" charset="-120"/>
              </a:rPr>
              <a:t>The analysis showed that certain high demand products frequently experienced stockouts despite their significant contribution to overall sales. This pattern indicated a need for more strategic inventory planning, especially for top-performing product lines during peak seasonal periods.</a:t>
            </a:r>
            <a:endParaRPr lang="en-US" sz="1400" dirty="0"/>
          </a:p>
        </p:txBody>
      </p:sp>
      <p:sp>
        <p:nvSpPr>
          <p:cNvPr id="5" name="Text 3"/>
          <p:cNvSpPr/>
          <p:nvPr/>
        </p:nvSpPr>
        <p:spPr>
          <a:xfrm>
            <a:off x="424783" y="2541653"/>
            <a:ext cx="13836729" cy="416212"/>
          </a:xfrm>
          <a:prstGeom prst="rect">
            <a:avLst/>
          </a:prstGeom>
          <a:noFill/>
          <a:ln/>
        </p:spPr>
        <p:txBody>
          <a:bodyPr wrap="none" lIns="0" tIns="0" rIns="0" bIns="0" rtlCol="0" anchor="t"/>
          <a:lstStyle/>
          <a:p>
            <a:pPr marL="171450" indent="-171450" algn="l">
              <a:lnSpc>
                <a:spcPts val="1400"/>
              </a:lnSpc>
              <a:buFont typeface="Arial" panose="020B0604020202020204" pitchFamily="34" charset="0"/>
              <a:buChar char="•"/>
            </a:pPr>
            <a:r>
              <a:rPr lang="en-US" sz="1400" dirty="0">
                <a:solidFill>
                  <a:srgbClr val="383838"/>
                </a:solidFill>
                <a:latin typeface="DM Sans" pitchFamily="34" charset="0"/>
                <a:ea typeface="DM Sans" pitchFamily="34" charset="-122"/>
                <a:cs typeface="DM Sans" pitchFamily="34" charset="-120"/>
              </a:rPr>
              <a:t> The data also revealed opportunities for reducing capital tied up in slow-moving inventory, allowing for more efficient resource allocation across the product portfolio.</a:t>
            </a:r>
            <a:endParaRPr lang="en-US" sz="1400" dirty="0"/>
          </a:p>
        </p:txBody>
      </p:sp>
      <p:sp>
        <p:nvSpPr>
          <p:cNvPr id="12" name="Text 9"/>
          <p:cNvSpPr/>
          <p:nvPr/>
        </p:nvSpPr>
        <p:spPr>
          <a:xfrm>
            <a:off x="7070639" y="6856298"/>
            <a:ext cx="561856" cy="113348"/>
          </a:xfrm>
          <a:prstGeom prst="rect">
            <a:avLst/>
          </a:prstGeom>
          <a:noFill/>
          <a:ln/>
        </p:spPr>
        <p:txBody>
          <a:bodyPr wrap="none" lIns="0" tIns="0" rIns="0" bIns="0" rtlCol="0" anchor="t"/>
          <a:lstStyle/>
          <a:p>
            <a:pPr marL="0" indent="0" algn="l">
              <a:lnSpc>
                <a:spcPts val="850"/>
              </a:lnSpc>
              <a:buNone/>
            </a:pPr>
            <a:endParaRPr lang="en-US" sz="1200" dirty="0"/>
          </a:p>
        </p:txBody>
      </p:sp>
      <p:sp>
        <p:nvSpPr>
          <p:cNvPr id="16" name="Text 13"/>
          <p:cNvSpPr/>
          <p:nvPr/>
        </p:nvSpPr>
        <p:spPr>
          <a:xfrm rot="21240791">
            <a:off x="11328618" y="6725497"/>
            <a:ext cx="745688" cy="113348"/>
          </a:xfrm>
          <a:prstGeom prst="rect">
            <a:avLst/>
          </a:prstGeom>
          <a:noFill/>
          <a:ln/>
        </p:spPr>
        <p:txBody>
          <a:bodyPr wrap="none" lIns="0" tIns="0" rIns="0" bIns="0" rtlCol="0" anchor="t"/>
          <a:lstStyle/>
          <a:p>
            <a:pPr marL="0" indent="0" algn="l">
              <a:lnSpc>
                <a:spcPts val="850"/>
              </a:lnSpc>
              <a:buNone/>
            </a:pPr>
            <a:r>
              <a:rPr lang="en-US" sz="1200" dirty="0"/>
              <a:t>[</a:t>
            </a:r>
          </a:p>
        </p:txBody>
      </p:sp>
      <p:pic>
        <p:nvPicPr>
          <p:cNvPr id="33" name="Picture 32">
            <a:extLst>
              <a:ext uri="{FF2B5EF4-FFF2-40B4-BE49-F238E27FC236}">
                <a16:creationId xmlns:a16="http://schemas.microsoft.com/office/drawing/2014/main" id="{FA4C7209-F071-57F0-935C-8740DDA544BA}"/>
              </a:ext>
            </a:extLst>
          </p:cNvPr>
          <p:cNvPicPr>
            <a:picLocks noChangeAspect="1"/>
          </p:cNvPicPr>
          <p:nvPr/>
        </p:nvPicPr>
        <p:blipFill>
          <a:blip r:embed="rId3"/>
          <a:stretch>
            <a:fillRect/>
          </a:stretch>
        </p:blipFill>
        <p:spPr>
          <a:xfrm>
            <a:off x="8543075" y="3051288"/>
            <a:ext cx="6087325" cy="3581900"/>
          </a:xfrm>
          <a:prstGeom prst="rect">
            <a:avLst/>
          </a:prstGeom>
        </p:spPr>
      </p:pic>
      <p:sp>
        <p:nvSpPr>
          <p:cNvPr id="34" name="Slide Number Placeholder 33">
            <a:extLst>
              <a:ext uri="{FF2B5EF4-FFF2-40B4-BE49-F238E27FC236}">
                <a16:creationId xmlns:a16="http://schemas.microsoft.com/office/drawing/2014/main" id="{D42FBDAE-78B5-6FD7-CB2E-87A55E302D1E}"/>
              </a:ext>
            </a:extLst>
          </p:cNvPr>
          <p:cNvSpPr>
            <a:spLocks noGrp="1"/>
          </p:cNvSpPr>
          <p:nvPr>
            <p:ph type="sldNum" sz="quarter" idx="12"/>
          </p:nvPr>
        </p:nvSpPr>
        <p:spPr/>
        <p:txBody>
          <a:bodyPr/>
          <a:lstStyle/>
          <a:p>
            <a:fld id="{4FAB73BC-B049-4115-A692-8D63A059BFB8}" type="slidenum">
              <a:rPr lang="en-US" smtClean="0"/>
              <a:pPr/>
              <a:t>5</a:t>
            </a:fld>
            <a:endParaRPr lang="en-US" dirty="0"/>
          </a:p>
        </p:txBody>
      </p:sp>
      <p:pic>
        <p:nvPicPr>
          <p:cNvPr id="9" name="Picture 8">
            <a:extLst>
              <a:ext uri="{FF2B5EF4-FFF2-40B4-BE49-F238E27FC236}">
                <a16:creationId xmlns:a16="http://schemas.microsoft.com/office/drawing/2014/main" id="{77EADB91-95F8-4372-7414-876A61275076}"/>
              </a:ext>
            </a:extLst>
          </p:cNvPr>
          <p:cNvPicPr>
            <a:picLocks noChangeAspect="1"/>
          </p:cNvPicPr>
          <p:nvPr/>
        </p:nvPicPr>
        <p:blipFill>
          <a:blip r:embed="rId4"/>
          <a:stretch>
            <a:fillRect/>
          </a:stretch>
        </p:blipFill>
        <p:spPr>
          <a:xfrm>
            <a:off x="-10405" y="3271058"/>
            <a:ext cx="5730981" cy="3418887"/>
          </a:xfrm>
          <a:prstGeom prst="rect">
            <a:avLst/>
          </a:prstGeom>
        </p:spPr>
      </p:pic>
      <p:pic>
        <p:nvPicPr>
          <p:cNvPr id="10" name="Picture 9">
            <a:extLst>
              <a:ext uri="{FF2B5EF4-FFF2-40B4-BE49-F238E27FC236}">
                <a16:creationId xmlns:a16="http://schemas.microsoft.com/office/drawing/2014/main" id="{ECBF543F-C585-C4EE-73AC-2222AC98D5D7}"/>
              </a:ext>
            </a:extLst>
          </p:cNvPr>
          <p:cNvPicPr>
            <a:picLocks noChangeAspect="1"/>
          </p:cNvPicPr>
          <p:nvPr/>
        </p:nvPicPr>
        <p:blipFill>
          <a:blip r:embed="rId5"/>
          <a:stretch>
            <a:fillRect/>
          </a:stretch>
        </p:blipFill>
        <p:spPr>
          <a:xfrm>
            <a:off x="5705052" y="3512983"/>
            <a:ext cx="2959446" cy="306734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81966" y="520987"/>
            <a:ext cx="2536388" cy="306110"/>
          </a:xfrm>
          <a:prstGeom prst="rect">
            <a:avLst/>
          </a:prstGeom>
          <a:noFill/>
          <a:ln/>
        </p:spPr>
        <p:txBody>
          <a:bodyPr wrap="none" lIns="0" tIns="0" rIns="0" bIns="0" rtlCol="0" anchor="t"/>
          <a:lstStyle/>
          <a:p>
            <a:pPr marL="0" indent="0" algn="l">
              <a:lnSpc>
                <a:spcPts val="2400"/>
              </a:lnSpc>
              <a:buNone/>
            </a:pPr>
            <a:r>
              <a:rPr lang="en-US" sz="4400" dirty="0">
                <a:solidFill>
                  <a:srgbClr val="020202"/>
                </a:solidFill>
                <a:latin typeface="PT Serif" pitchFamily="34" charset="0"/>
                <a:ea typeface="PT Serif" pitchFamily="34" charset="-122"/>
                <a:cs typeface="PT Serif" pitchFamily="34" charset="-120"/>
              </a:rPr>
              <a:t>Credit Risk Assessment</a:t>
            </a:r>
            <a:endParaRPr lang="en-US" sz="4400" dirty="0"/>
          </a:p>
        </p:txBody>
      </p:sp>
      <p:pic>
        <p:nvPicPr>
          <p:cNvPr id="6" name="Image 0" descr="preencoded.png"/>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Layer>
                </a14:imgProps>
              </a:ext>
            </a:extLst>
          </a:blip>
          <a:stretch>
            <a:fillRect/>
          </a:stretch>
        </p:blipFill>
        <p:spPr>
          <a:xfrm>
            <a:off x="9341669" y="5069891"/>
            <a:ext cx="1694974" cy="544473"/>
          </a:xfrm>
          <a:prstGeom prst="rect">
            <a:avLst/>
          </a:prstGeom>
        </p:spPr>
      </p:pic>
      <p:pic>
        <p:nvPicPr>
          <p:cNvPr id="7" name="Image 1" descr="preencoded.png"/>
          <p:cNvPicPr>
            <a:picLocks noChangeAspect="1"/>
          </p:cNvPicPr>
          <p:nvPr/>
        </p:nvPicPr>
        <p:blipFill>
          <a:blip r:embed="rId5"/>
          <a:stretch>
            <a:fillRect/>
          </a:stretch>
        </p:blipFill>
        <p:spPr>
          <a:xfrm>
            <a:off x="10020640" y="5288283"/>
            <a:ext cx="131088" cy="163949"/>
          </a:xfrm>
          <a:prstGeom prst="rect">
            <a:avLst/>
          </a:prstGeom>
        </p:spPr>
      </p:pic>
      <p:sp>
        <p:nvSpPr>
          <p:cNvPr id="8" name="Text 4"/>
          <p:cNvSpPr/>
          <p:nvPr/>
        </p:nvSpPr>
        <p:spPr>
          <a:xfrm>
            <a:off x="10537756" y="5036077"/>
            <a:ext cx="1224201" cy="152995"/>
          </a:xfrm>
          <a:prstGeom prst="rect">
            <a:avLst/>
          </a:prstGeom>
          <a:noFill/>
          <a:ln/>
        </p:spPr>
        <p:txBody>
          <a:bodyPr wrap="none" lIns="0" tIns="0" rIns="0" bIns="0" rtlCol="0" anchor="t"/>
          <a:lstStyle/>
          <a:p>
            <a:pPr marL="0" indent="0" algn="l">
              <a:lnSpc>
                <a:spcPts val="1200"/>
              </a:lnSpc>
              <a:buNone/>
            </a:pPr>
            <a:r>
              <a:rPr lang="en-US" sz="950" dirty="0">
                <a:solidFill>
                  <a:srgbClr val="383838"/>
                </a:solidFill>
                <a:latin typeface="PT Serif" pitchFamily="34" charset="0"/>
                <a:ea typeface="PT Serif" pitchFamily="34" charset="-122"/>
                <a:cs typeface="PT Serif" pitchFamily="34" charset="-120"/>
              </a:rPr>
              <a:t>Tier 1 Customers(6-7)</a:t>
            </a:r>
            <a:endParaRPr lang="en-US" sz="950" dirty="0"/>
          </a:p>
        </p:txBody>
      </p:sp>
      <p:sp>
        <p:nvSpPr>
          <p:cNvPr id="9" name="Text 5"/>
          <p:cNvSpPr/>
          <p:nvPr/>
        </p:nvSpPr>
        <p:spPr>
          <a:xfrm>
            <a:off x="10663205" y="5200647"/>
            <a:ext cx="1294090" cy="149066"/>
          </a:xfrm>
          <a:prstGeom prst="rect">
            <a:avLst/>
          </a:prstGeom>
          <a:noFill/>
          <a:ln/>
        </p:spPr>
        <p:txBody>
          <a:bodyPr wrap="none" lIns="0" tIns="0" rIns="0" bIns="0" rtlCol="0" anchor="t"/>
          <a:lstStyle/>
          <a:p>
            <a:pPr marL="0" indent="0" algn="l">
              <a:lnSpc>
                <a:spcPts val="1150"/>
              </a:lnSpc>
              <a:buNone/>
            </a:pPr>
            <a:r>
              <a:rPr lang="en-US" sz="700" dirty="0">
                <a:solidFill>
                  <a:srgbClr val="383838"/>
                </a:solidFill>
                <a:latin typeface="DM Sans" pitchFamily="34" charset="0"/>
                <a:ea typeface="DM Sans" pitchFamily="34" charset="-122"/>
                <a:cs typeface="DM Sans" pitchFamily="34" charset="-120"/>
              </a:rPr>
              <a:t>Prompt payment, high volume</a:t>
            </a:r>
            <a:endParaRPr lang="en-US" sz="700" dirty="0"/>
          </a:p>
        </p:txBody>
      </p:sp>
      <p:pic>
        <p:nvPicPr>
          <p:cNvPr id="11" name="Image 2" descr="preencoded.png"/>
          <p:cNvPicPr>
            <a:picLocks noChangeAspect="1"/>
          </p:cNvPicPr>
          <p:nvPr/>
        </p:nvPicPr>
        <p:blipFill>
          <a:blip r:embed="rId6">
            <a:extLst>
              <a:ext uri="{BEBA8EAE-BF5A-486C-A8C5-ECC9F3942E4B}">
                <a14:imgProps xmlns:a14="http://schemas.microsoft.com/office/drawing/2010/main">
                  <a14:imgLayer r:embed="rId7">
                    <a14:imgEffect>
                      <a14:colorTemperature colorTemp="4700"/>
                    </a14:imgEffect>
                  </a14:imgLayer>
                </a14:imgProps>
              </a:ext>
            </a:extLst>
          </a:blip>
          <a:stretch>
            <a:fillRect/>
          </a:stretch>
        </p:blipFill>
        <p:spPr>
          <a:xfrm>
            <a:off x="8494123" y="5624337"/>
            <a:ext cx="3390067" cy="544473"/>
          </a:xfrm>
          <a:prstGeom prst="rect">
            <a:avLst/>
          </a:prstGeom>
        </p:spPr>
      </p:pic>
      <p:pic>
        <p:nvPicPr>
          <p:cNvPr id="12" name="Image 3" descr="preencoded.png"/>
          <p:cNvPicPr>
            <a:picLocks noChangeAspect="1"/>
          </p:cNvPicPr>
          <p:nvPr/>
        </p:nvPicPr>
        <p:blipFill>
          <a:blip r:embed="rId8"/>
          <a:stretch>
            <a:fillRect/>
          </a:stretch>
        </p:blipFill>
        <p:spPr>
          <a:xfrm>
            <a:off x="9975504" y="5740361"/>
            <a:ext cx="176224" cy="220400"/>
          </a:xfrm>
          <a:prstGeom prst="rect">
            <a:avLst/>
          </a:prstGeom>
        </p:spPr>
      </p:pic>
      <p:sp>
        <p:nvSpPr>
          <p:cNvPr id="13" name="Text 7"/>
          <p:cNvSpPr/>
          <p:nvPr/>
        </p:nvSpPr>
        <p:spPr>
          <a:xfrm>
            <a:off x="11345194" y="5602663"/>
            <a:ext cx="1224201" cy="152995"/>
          </a:xfrm>
          <a:prstGeom prst="rect">
            <a:avLst/>
          </a:prstGeom>
          <a:noFill/>
          <a:ln/>
        </p:spPr>
        <p:txBody>
          <a:bodyPr wrap="none" lIns="0" tIns="0" rIns="0" bIns="0" rtlCol="0" anchor="t"/>
          <a:lstStyle/>
          <a:p>
            <a:pPr marL="0" indent="0" algn="l">
              <a:lnSpc>
                <a:spcPts val="1200"/>
              </a:lnSpc>
              <a:buNone/>
            </a:pPr>
            <a:r>
              <a:rPr lang="en-US" sz="950" dirty="0">
                <a:solidFill>
                  <a:srgbClr val="383838"/>
                </a:solidFill>
                <a:latin typeface="PT Serif" pitchFamily="34" charset="0"/>
                <a:ea typeface="PT Serif" pitchFamily="34" charset="-122"/>
                <a:cs typeface="PT Serif" pitchFamily="34" charset="-120"/>
              </a:rPr>
              <a:t>Tier 2 Customers(3-5)</a:t>
            </a:r>
            <a:endParaRPr lang="en-US" sz="950" dirty="0"/>
          </a:p>
        </p:txBody>
      </p:sp>
      <p:sp>
        <p:nvSpPr>
          <p:cNvPr id="14" name="Text 8"/>
          <p:cNvSpPr/>
          <p:nvPr/>
        </p:nvSpPr>
        <p:spPr>
          <a:xfrm>
            <a:off x="11435741" y="5745655"/>
            <a:ext cx="1582103" cy="149066"/>
          </a:xfrm>
          <a:prstGeom prst="rect">
            <a:avLst/>
          </a:prstGeom>
          <a:noFill/>
          <a:ln/>
        </p:spPr>
        <p:txBody>
          <a:bodyPr wrap="none" lIns="0" tIns="0" rIns="0" bIns="0" rtlCol="0" anchor="t"/>
          <a:lstStyle/>
          <a:p>
            <a:pPr marL="0" indent="0" algn="l">
              <a:lnSpc>
                <a:spcPts val="1150"/>
              </a:lnSpc>
              <a:buNone/>
            </a:pPr>
            <a:r>
              <a:rPr lang="en-US" sz="700" dirty="0">
                <a:solidFill>
                  <a:srgbClr val="383838"/>
                </a:solidFill>
                <a:latin typeface="DM Sans" pitchFamily="34" charset="0"/>
                <a:ea typeface="DM Sans" pitchFamily="34" charset="-122"/>
                <a:cs typeface="DM Sans" pitchFamily="34" charset="-120"/>
              </a:rPr>
              <a:t>Occasional delays, moderate volume</a:t>
            </a:r>
            <a:endParaRPr lang="en-US" sz="700" dirty="0"/>
          </a:p>
        </p:txBody>
      </p:sp>
      <p:pic>
        <p:nvPicPr>
          <p:cNvPr id="16" name="Image 4" descr="preencoded.png"/>
          <p:cNvPicPr>
            <a:picLocks noChangeAspect="1"/>
          </p:cNvPicPr>
          <p:nvPr/>
        </p:nvPicPr>
        <p:blipFill>
          <a:blip r:embed="rId9">
            <a:extLst>
              <a:ext uri="{BEBA8EAE-BF5A-486C-A8C5-ECC9F3942E4B}">
                <a14:imgProps xmlns:a14="http://schemas.microsoft.com/office/drawing/2010/main">
                  <a14:imgLayer r:embed="rId10">
                    <a14:imgEffect>
                      <a14:colorTemperature colorTemp="4700"/>
                    </a14:imgEffect>
                  </a14:imgLayer>
                </a14:imgProps>
              </a:ext>
            </a:extLst>
          </a:blip>
          <a:stretch>
            <a:fillRect/>
          </a:stretch>
        </p:blipFill>
        <p:spPr>
          <a:xfrm>
            <a:off x="7646578" y="6182850"/>
            <a:ext cx="5085159" cy="544473"/>
          </a:xfrm>
          <a:prstGeom prst="rect">
            <a:avLst/>
          </a:prstGeom>
        </p:spPr>
      </p:pic>
      <p:pic>
        <p:nvPicPr>
          <p:cNvPr id="17" name="Image 5" descr="preencoded.png"/>
          <p:cNvPicPr>
            <a:picLocks noChangeAspect="1"/>
          </p:cNvPicPr>
          <p:nvPr/>
        </p:nvPicPr>
        <p:blipFill>
          <a:blip r:embed="rId11"/>
          <a:stretch>
            <a:fillRect/>
          </a:stretch>
        </p:blipFill>
        <p:spPr>
          <a:xfrm>
            <a:off x="10066963" y="6339965"/>
            <a:ext cx="131088" cy="163949"/>
          </a:xfrm>
          <a:prstGeom prst="rect">
            <a:avLst/>
          </a:prstGeom>
        </p:spPr>
      </p:pic>
      <p:sp>
        <p:nvSpPr>
          <p:cNvPr id="18" name="Text 10"/>
          <p:cNvSpPr/>
          <p:nvPr/>
        </p:nvSpPr>
        <p:spPr>
          <a:xfrm>
            <a:off x="12226792" y="6136050"/>
            <a:ext cx="1224201" cy="152995"/>
          </a:xfrm>
          <a:prstGeom prst="rect">
            <a:avLst/>
          </a:prstGeom>
          <a:noFill/>
          <a:ln/>
        </p:spPr>
        <p:txBody>
          <a:bodyPr wrap="none" lIns="0" tIns="0" rIns="0" bIns="0" rtlCol="0" anchor="t"/>
          <a:lstStyle/>
          <a:p>
            <a:pPr marL="0" indent="0" algn="l">
              <a:lnSpc>
                <a:spcPts val="1200"/>
              </a:lnSpc>
              <a:buNone/>
            </a:pPr>
            <a:r>
              <a:rPr lang="en-US" sz="950" dirty="0">
                <a:solidFill>
                  <a:srgbClr val="383838"/>
                </a:solidFill>
                <a:latin typeface="PT Serif" pitchFamily="34" charset="0"/>
                <a:ea typeface="PT Serif" pitchFamily="34" charset="-122"/>
                <a:cs typeface="PT Serif" pitchFamily="34" charset="-120"/>
              </a:rPr>
              <a:t>Tier 3 Customers(0-2)</a:t>
            </a:r>
            <a:endParaRPr lang="en-US" sz="950" dirty="0"/>
          </a:p>
        </p:txBody>
      </p:sp>
      <p:sp>
        <p:nvSpPr>
          <p:cNvPr id="19" name="Text 11"/>
          <p:cNvSpPr/>
          <p:nvPr/>
        </p:nvSpPr>
        <p:spPr>
          <a:xfrm>
            <a:off x="12253879" y="6215635"/>
            <a:ext cx="1640919" cy="149066"/>
          </a:xfrm>
          <a:prstGeom prst="rect">
            <a:avLst/>
          </a:prstGeom>
          <a:noFill/>
          <a:ln/>
        </p:spPr>
        <p:txBody>
          <a:bodyPr wrap="none" lIns="0" tIns="0" rIns="0" bIns="0" rtlCol="0" anchor="t"/>
          <a:lstStyle/>
          <a:p>
            <a:pPr marL="0" indent="0" algn="l">
              <a:lnSpc>
                <a:spcPts val="1150"/>
              </a:lnSpc>
              <a:buNone/>
            </a:pPr>
            <a:r>
              <a:rPr lang="en-US" sz="700" dirty="0">
                <a:solidFill>
                  <a:srgbClr val="383838"/>
                </a:solidFill>
                <a:latin typeface="DM Sans" pitchFamily="34" charset="0"/>
                <a:ea typeface="DM Sans" pitchFamily="34" charset="-122"/>
                <a:cs typeface="DM Sans" pitchFamily="34" charset="-120"/>
              </a:rPr>
              <a:t>Significant delays, requires monitoring</a:t>
            </a:r>
            <a:endParaRPr lang="en-US" sz="700" dirty="0"/>
          </a:p>
        </p:txBody>
      </p:sp>
      <p:pic>
        <p:nvPicPr>
          <p:cNvPr id="21" name="Image 6" descr="preencoded.png"/>
          <p:cNvPicPr>
            <a:picLocks noChangeAspect="1"/>
          </p:cNvPicPr>
          <p:nvPr/>
        </p:nvPicPr>
        <p:blipFill>
          <a:blip r:embed="rId12">
            <a:extLst>
              <a:ext uri="{BEBA8EAE-BF5A-486C-A8C5-ECC9F3942E4B}">
                <a14:imgProps xmlns:a14="http://schemas.microsoft.com/office/drawing/2010/main">
                  <a14:imgLayer r:embed="rId13">
                    <a14:imgEffect>
                      <a14:colorTemperature colorTemp="4700"/>
                    </a14:imgEffect>
                  </a14:imgLayer>
                </a14:imgProps>
              </a:ext>
            </a:extLst>
          </a:blip>
          <a:stretch>
            <a:fillRect/>
          </a:stretch>
        </p:blipFill>
        <p:spPr>
          <a:xfrm>
            <a:off x="6807925" y="6759717"/>
            <a:ext cx="6780252" cy="544473"/>
          </a:xfrm>
          <a:prstGeom prst="rect">
            <a:avLst/>
          </a:prstGeom>
        </p:spPr>
      </p:pic>
      <p:pic>
        <p:nvPicPr>
          <p:cNvPr id="22" name="Image 7" descr="preencoded.png"/>
          <p:cNvPicPr>
            <a:picLocks noChangeAspect="1"/>
          </p:cNvPicPr>
          <p:nvPr/>
        </p:nvPicPr>
        <p:blipFill>
          <a:blip r:embed="rId14"/>
          <a:stretch>
            <a:fillRect/>
          </a:stretch>
        </p:blipFill>
        <p:spPr>
          <a:xfrm>
            <a:off x="10086184" y="6933477"/>
            <a:ext cx="131088" cy="163949"/>
          </a:xfrm>
          <a:prstGeom prst="rect">
            <a:avLst/>
          </a:prstGeom>
        </p:spPr>
      </p:pic>
      <p:sp>
        <p:nvSpPr>
          <p:cNvPr id="23" name="Text 13"/>
          <p:cNvSpPr/>
          <p:nvPr/>
        </p:nvSpPr>
        <p:spPr>
          <a:xfrm>
            <a:off x="12976076" y="6743185"/>
            <a:ext cx="1224201" cy="152995"/>
          </a:xfrm>
          <a:prstGeom prst="rect">
            <a:avLst/>
          </a:prstGeom>
          <a:noFill/>
          <a:ln/>
        </p:spPr>
        <p:txBody>
          <a:bodyPr wrap="none" lIns="0" tIns="0" rIns="0" bIns="0" rtlCol="0" anchor="t"/>
          <a:lstStyle/>
          <a:p>
            <a:pPr marL="0" indent="0" algn="l">
              <a:lnSpc>
                <a:spcPts val="1200"/>
              </a:lnSpc>
              <a:buNone/>
            </a:pPr>
            <a:r>
              <a:rPr lang="en-US" sz="950" dirty="0">
                <a:solidFill>
                  <a:srgbClr val="383838"/>
                </a:solidFill>
                <a:latin typeface="PT Serif" pitchFamily="34" charset="0"/>
                <a:ea typeface="PT Serif" pitchFamily="34" charset="-122"/>
                <a:cs typeface="PT Serif" pitchFamily="34" charset="-120"/>
              </a:rPr>
              <a:t>Restricted Customers(&lt;0)</a:t>
            </a:r>
            <a:endParaRPr lang="en-US" sz="950" dirty="0"/>
          </a:p>
        </p:txBody>
      </p:sp>
      <p:sp>
        <p:nvSpPr>
          <p:cNvPr id="24" name="Text 14"/>
          <p:cNvSpPr/>
          <p:nvPr/>
        </p:nvSpPr>
        <p:spPr>
          <a:xfrm>
            <a:off x="12976076" y="6838179"/>
            <a:ext cx="1776293" cy="149066"/>
          </a:xfrm>
          <a:prstGeom prst="rect">
            <a:avLst/>
          </a:prstGeom>
          <a:noFill/>
          <a:ln/>
        </p:spPr>
        <p:txBody>
          <a:bodyPr wrap="none" lIns="0" tIns="0" rIns="0" bIns="0" rtlCol="0" anchor="t"/>
          <a:lstStyle/>
          <a:p>
            <a:pPr marL="0" indent="0" algn="l">
              <a:lnSpc>
                <a:spcPts val="1150"/>
              </a:lnSpc>
              <a:buNone/>
            </a:pPr>
            <a:r>
              <a:rPr lang="en-US" sz="700" dirty="0">
                <a:solidFill>
                  <a:srgbClr val="383838"/>
                </a:solidFill>
                <a:latin typeface="DM Sans" pitchFamily="34" charset="0"/>
                <a:ea typeface="DM Sans" pitchFamily="34" charset="-122"/>
                <a:cs typeface="DM Sans" pitchFamily="34" charset="-120"/>
              </a:rPr>
              <a:t>Major overdue amounts, cash-only terms</a:t>
            </a:r>
            <a:endParaRPr lang="en-US" sz="700" dirty="0"/>
          </a:p>
        </p:txBody>
      </p:sp>
      <p:pic>
        <p:nvPicPr>
          <p:cNvPr id="39" name="Picture 38">
            <a:extLst>
              <a:ext uri="{FF2B5EF4-FFF2-40B4-BE49-F238E27FC236}">
                <a16:creationId xmlns:a16="http://schemas.microsoft.com/office/drawing/2014/main" id="{19F7B742-2DA7-02A0-B195-E0594598D6CF}"/>
              </a:ext>
            </a:extLst>
          </p:cNvPr>
          <p:cNvPicPr>
            <a:picLocks noChangeAspect="1"/>
          </p:cNvPicPr>
          <p:nvPr/>
        </p:nvPicPr>
        <p:blipFill>
          <a:blip r:embed="rId15"/>
          <a:stretch>
            <a:fillRect/>
          </a:stretch>
        </p:blipFill>
        <p:spPr>
          <a:xfrm>
            <a:off x="10381443" y="3239804"/>
            <a:ext cx="3911832" cy="1669798"/>
          </a:xfrm>
          <a:prstGeom prst="rect">
            <a:avLst/>
          </a:prstGeom>
        </p:spPr>
      </p:pic>
      <p:sp>
        <p:nvSpPr>
          <p:cNvPr id="40" name="Slide Number Placeholder 39">
            <a:extLst>
              <a:ext uri="{FF2B5EF4-FFF2-40B4-BE49-F238E27FC236}">
                <a16:creationId xmlns:a16="http://schemas.microsoft.com/office/drawing/2014/main" id="{330F60B0-0EF8-31D7-335D-04B610368999}"/>
              </a:ext>
            </a:extLst>
          </p:cNvPr>
          <p:cNvSpPr>
            <a:spLocks noGrp="1"/>
          </p:cNvSpPr>
          <p:nvPr>
            <p:ph type="sldNum" sz="quarter" idx="12"/>
          </p:nvPr>
        </p:nvSpPr>
        <p:spPr/>
        <p:txBody>
          <a:bodyPr/>
          <a:lstStyle/>
          <a:p>
            <a:fld id="{4FAB73BC-B049-4115-A692-8D63A059BFB8}" type="slidenum">
              <a:rPr lang="en-US" smtClean="0"/>
              <a:pPr/>
              <a:t>6</a:t>
            </a:fld>
            <a:endParaRPr lang="en-US" dirty="0"/>
          </a:p>
        </p:txBody>
      </p:sp>
      <p:pic>
        <p:nvPicPr>
          <p:cNvPr id="15" name="Picture 14">
            <a:extLst>
              <a:ext uri="{FF2B5EF4-FFF2-40B4-BE49-F238E27FC236}">
                <a16:creationId xmlns:a16="http://schemas.microsoft.com/office/drawing/2014/main" id="{3A95EC27-E2BF-EC98-A5EE-3E6BC8CACEFE}"/>
              </a:ext>
            </a:extLst>
          </p:cNvPr>
          <p:cNvPicPr>
            <a:picLocks noChangeAspect="1"/>
          </p:cNvPicPr>
          <p:nvPr/>
        </p:nvPicPr>
        <p:blipFill>
          <a:blip r:embed="rId16"/>
          <a:stretch>
            <a:fillRect/>
          </a:stretch>
        </p:blipFill>
        <p:spPr>
          <a:xfrm>
            <a:off x="160704" y="3536835"/>
            <a:ext cx="5950151" cy="2977516"/>
          </a:xfrm>
          <a:prstGeom prst="rect">
            <a:avLst/>
          </a:prstGeom>
        </p:spPr>
      </p:pic>
      <p:sp>
        <p:nvSpPr>
          <p:cNvPr id="51" name="Shape 2">
            <a:extLst>
              <a:ext uri="{FF2B5EF4-FFF2-40B4-BE49-F238E27FC236}">
                <a16:creationId xmlns:a16="http://schemas.microsoft.com/office/drawing/2014/main" id="{6EF7FC4C-922D-6042-1C9B-7D511CD1226E}"/>
              </a:ext>
            </a:extLst>
          </p:cNvPr>
          <p:cNvSpPr/>
          <p:nvPr/>
        </p:nvSpPr>
        <p:spPr>
          <a:xfrm>
            <a:off x="329847" y="1235718"/>
            <a:ext cx="510421" cy="510421"/>
          </a:xfrm>
          <a:prstGeom prst="roundRect">
            <a:avLst>
              <a:gd name="adj" fmla="val 6667"/>
            </a:avLst>
          </a:prstGeom>
          <a:solidFill>
            <a:srgbClr val="F2EEEE"/>
          </a:solidFill>
          <a:ln/>
        </p:spPr>
      </p:sp>
      <p:pic>
        <p:nvPicPr>
          <p:cNvPr id="52" name="Image 1" descr="preencoded.png">
            <a:extLst>
              <a:ext uri="{FF2B5EF4-FFF2-40B4-BE49-F238E27FC236}">
                <a16:creationId xmlns:a16="http://schemas.microsoft.com/office/drawing/2014/main" id="{EA76DB64-A3F9-22AF-957D-FD3070CC2CF9}"/>
              </a:ext>
            </a:extLst>
          </p:cNvPr>
          <p:cNvPicPr>
            <a:picLocks noChangeAspect="1"/>
          </p:cNvPicPr>
          <p:nvPr/>
        </p:nvPicPr>
        <p:blipFill>
          <a:blip r:embed="rId17"/>
          <a:stretch>
            <a:fillRect/>
          </a:stretch>
        </p:blipFill>
        <p:spPr>
          <a:xfrm>
            <a:off x="430336" y="1297511"/>
            <a:ext cx="309324" cy="386715"/>
          </a:xfrm>
          <a:prstGeom prst="rect">
            <a:avLst/>
          </a:prstGeom>
        </p:spPr>
      </p:pic>
      <p:sp>
        <p:nvSpPr>
          <p:cNvPr id="53" name="Text 3">
            <a:extLst>
              <a:ext uri="{FF2B5EF4-FFF2-40B4-BE49-F238E27FC236}">
                <a16:creationId xmlns:a16="http://schemas.microsoft.com/office/drawing/2014/main" id="{78C1E69E-C102-1BD7-06CB-FEB85CD60083}"/>
              </a:ext>
            </a:extLst>
          </p:cNvPr>
          <p:cNvSpPr/>
          <p:nvPr/>
        </p:nvSpPr>
        <p:spPr>
          <a:xfrm>
            <a:off x="1067082" y="1235718"/>
            <a:ext cx="2578060" cy="322183"/>
          </a:xfrm>
          <a:prstGeom prst="rect">
            <a:avLst/>
          </a:prstGeom>
          <a:noFill/>
          <a:ln/>
        </p:spPr>
        <p:txBody>
          <a:bodyPr wrap="none" lIns="0" tIns="0" rIns="0" bIns="0" rtlCol="0" anchor="t"/>
          <a:lstStyle/>
          <a:p>
            <a:pPr marL="0" indent="0" algn="l">
              <a:lnSpc>
                <a:spcPts val="2500"/>
              </a:lnSpc>
              <a:buNone/>
            </a:pPr>
            <a:r>
              <a:rPr lang="en-US" sz="2000" b="1" kern="0" spc="-20" dirty="0">
                <a:solidFill>
                  <a:srgbClr val="3D3838"/>
                </a:solidFill>
                <a:latin typeface="Montserrat Bold" pitchFamily="34" charset="0"/>
                <a:ea typeface="Montserrat Bold" pitchFamily="34" charset="-122"/>
                <a:cs typeface="Montserrat Bold" pitchFamily="34" charset="-120"/>
              </a:rPr>
              <a:t>Overdue Analysis</a:t>
            </a:r>
            <a:endParaRPr lang="en-US" sz="2000" dirty="0"/>
          </a:p>
        </p:txBody>
      </p:sp>
      <p:sp>
        <p:nvSpPr>
          <p:cNvPr id="54" name="Text 4">
            <a:extLst>
              <a:ext uri="{FF2B5EF4-FFF2-40B4-BE49-F238E27FC236}">
                <a16:creationId xmlns:a16="http://schemas.microsoft.com/office/drawing/2014/main" id="{59718785-DDF1-21DF-B0AB-1DAA68DF1220}"/>
              </a:ext>
            </a:extLst>
          </p:cNvPr>
          <p:cNvSpPr/>
          <p:nvPr/>
        </p:nvSpPr>
        <p:spPr>
          <a:xfrm>
            <a:off x="1067082" y="1503760"/>
            <a:ext cx="3459004" cy="1701998"/>
          </a:xfrm>
          <a:prstGeom prst="rect">
            <a:avLst/>
          </a:prstGeom>
          <a:noFill/>
          <a:ln/>
        </p:spPr>
        <p:txBody>
          <a:bodyPr wrap="square" lIns="0" tIns="0" rIns="0" bIns="0" rtlCol="0" anchor="t"/>
          <a:lstStyle/>
          <a:p>
            <a:pPr marL="0" indent="0" algn="l">
              <a:lnSpc>
                <a:spcPts val="2650"/>
              </a:lnSpc>
              <a:buNone/>
            </a:pPr>
            <a:r>
              <a:rPr lang="en-US" sz="1750" dirty="0">
                <a:solidFill>
                  <a:srgbClr val="3D3838"/>
                </a:solidFill>
                <a:latin typeface="Source Sans Pro" pitchFamily="34" charset="0"/>
                <a:ea typeface="Source Sans Pro" pitchFamily="34" charset="-122"/>
                <a:cs typeface="Source Sans Pro" pitchFamily="34" charset="-120"/>
              </a:rPr>
              <a:t>Total overdue amount of ₹2.56 lakhs represents substantial portion of working capital that could be reinvested in inventory or business development.</a:t>
            </a:r>
            <a:endParaRPr lang="en-US" sz="1750" dirty="0"/>
          </a:p>
        </p:txBody>
      </p:sp>
      <p:sp>
        <p:nvSpPr>
          <p:cNvPr id="55" name="Shape 5">
            <a:extLst>
              <a:ext uri="{FF2B5EF4-FFF2-40B4-BE49-F238E27FC236}">
                <a16:creationId xmlns:a16="http://schemas.microsoft.com/office/drawing/2014/main" id="{83A69517-3126-EFDC-AFE2-3436C03506C4}"/>
              </a:ext>
            </a:extLst>
          </p:cNvPr>
          <p:cNvSpPr/>
          <p:nvPr/>
        </p:nvSpPr>
        <p:spPr>
          <a:xfrm>
            <a:off x="4752900" y="1235718"/>
            <a:ext cx="510421" cy="510421"/>
          </a:xfrm>
          <a:prstGeom prst="roundRect">
            <a:avLst>
              <a:gd name="adj" fmla="val 6667"/>
            </a:avLst>
          </a:prstGeom>
          <a:solidFill>
            <a:srgbClr val="F2EEEE"/>
          </a:solidFill>
          <a:ln/>
        </p:spPr>
      </p:sp>
      <p:pic>
        <p:nvPicPr>
          <p:cNvPr id="56" name="Image 2" descr="preencoded.png">
            <a:extLst>
              <a:ext uri="{FF2B5EF4-FFF2-40B4-BE49-F238E27FC236}">
                <a16:creationId xmlns:a16="http://schemas.microsoft.com/office/drawing/2014/main" id="{DABA19BE-B9C2-8F81-2823-9F7BF2A42C3E}"/>
              </a:ext>
            </a:extLst>
          </p:cNvPr>
          <p:cNvPicPr>
            <a:picLocks noChangeAspect="1"/>
          </p:cNvPicPr>
          <p:nvPr/>
        </p:nvPicPr>
        <p:blipFill>
          <a:blip r:embed="rId18"/>
          <a:stretch>
            <a:fillRect/>
          </a:stretch>
        </p:blipFill>
        <p:spPr>
          <a:xfrm>
            <a:off x="4853388" y="1297511"/>
            <a:ext cx="309324" cy="386715"/>
          </a:xfrm>
          <a:prstGeom prst="rect">
            <a:avLst/>
          </a:prstGeom>
        </p:spPr>
      </p:pic>
      <p:sp>
        <p:nvSpPr>
          <p:cNvPr id="57" name="Text 6">
            <a:extLst>
              <a:ext uri="{FF2B5EF4-FFF2-40B4-BE49-F238E27FC236}">
                <a16:creationId xmlns:a16="http://schemas.microsoft.com/office/drawing/2014/main" id="{5F6DE0D3-78DA-01C2-53A6-45C11B82564E}"/>
              </a:ext>
            </a:extLst>
          </p:cNvPr>
          <p:cNvSpPr/>
          <p:nvPr/>
        </p:nvSpPr>
        <p:spPr>
          <a:xfrm>
            <a:off x="5490135" y="1235718"/>
            <a:ext cx="2738557" cy="322183"/>
          </a:xfrm>
          <a:prstGeom prst="rect">
            <a:avLst/>
          </a:prstGeom>
          <a:noFill/>
          <a:ln/>
        </p:spPr>
        <p:txBody>
          <a:bodyPr wrap="none" lIns="0" tIns="0" rIns="0" bIns="0" rtlCol="0" anchor="t"/>
          <a:lstStyle/>
          <a:p>
            <a:pPr marL="0" indent="0" algn="l">
              <a:lnSpc>
                <a:spcPts val="2500"/>
              </a:lnSpc>
              <a:buNone/>
            </a:pPr>
            <a:r>
              <a:rPr lang="en-US" sz="2000" b="1" kern="0" spc="-20" dirty="0">
                <a:solidFill>
                  <a:srgbClr val="3D3838"/>
                </a:solidFill>
                <a:latin typeface="Montserrat Bold" pitchFamily="34" charset="0"/>
                <a:ea typeface="Montserrat Bold" pitchFamily="34" charset="-122"/>
                <a:cs typeface="Montserrat Bold" pitchFamily="34" charset="-120"/>
              </a:rPr>
              <a:t>Customer Clustering</a:t>
            </a:r>
            <a:endParaRPr lang="en-US" sz="2000" dirty="0"/>
          </a:p>
        </p:txBody>
      </p:sp>
      <p:sp>
        <p:nvSpPr>
          <p:cNvPr id="58" name="Text 7">
            <a:extLst>
              <a:ext uri="{FF2B5EF4-FFF2-40B4-BE49-F238E27FC236}">
                <a16:creationId xmlns:a16="http://schemas.microsoft.com/office/drawing/2014/main" id="{F91449D5-282E-F3D6-DFD5-22C33221D917}"/>
              </a:ext>
            </a:extLst>
          </p:cNvPr>
          <p:cNvSpPr/>
          <p:nvPr/>
        </p:nvSpPr>
        <p:spPr>
          <a:xfrm>
            <a:off x="5490135" y="1503760"/>
            <a:ext cx="3459004" cy="1701998"/>
          </a:xfrm>
          <a:prstGeom prst="rect">
            <a:avLst/>
          </a:prstGeom>
          <a:noFill/>
          <a:ln/>
        </p:spPr>
        <p:txBody>
          <a:bodyPr wrap="square" lIns="0" tIns="0" rIns="0" bIns="0" rtlCol="0" anchor="t"/>
          <a:lstStyle/>
          <a:p>
            <a:pPr marL="0" indent="0" algn="l">
              <a:lnSpc>
                <a:spcPts val="2650"/>
              </a:lnSpc>
              <a:buNone/>
            </a:pPr>
            <a:r>
              <a:rPr lang="en-US" sz="1750" dirty="0">
                <a:solidFill>
                  <a:srgbClr val="3D3838"/>
                </a:solidFill>
                <a:latin typeface="Source Sans Pro" pitchFamily="34" charset="0"/>
                <a:ea typeface="Source Sans Pro" pitchFamily="34" charset="-122"/>
                <a:cs typeface="Source Sans Pro" pitchFamily="34" charset="-120"/>
              </a:rPr>
              <a:t>80% of the overdue amount is concentrated among just two customers, indicating a need for targeted credit management strategies.</a:t>
            </a:r>
            <a:endParaRPr lang="en-US" sz="1750" dirty="0"/>
          </a:p>
        </p:txBody>
      </p:sp>
      <p:sp>
        <p:nvSpPr>
          <p:cNvPr id="59" name="Shape 8">
            <a:extLst>
              <a:ext uri="{FF2B5EF4-FFF2-40B4-BE49-F238E27FC236}">
                <a16:creationId xmlns:a16="http://schemas.microsoft.com/office/drawing/2014/main" id="{F6B16934-DA51-4A1D-B71E-2D0101810440}"/>
              </a:ext>
            </a:extLst>
          </p:cNvPr>
          <p:cNvSpPr/>
          <p:nvPr/>
        </p:nvSpPr>
        <p:spPr>
          <a:xfrm>
            <a:off x="9175952" y="1235718"/>
            <a:ext cx="510421" cy="510421"/>
          </a:xfrm>
          <a:prstGeom prst="roundRect">
            <a:avLst>
              <a:gd name="adj" fmla="val 6667"/>
            </a:avLst>
          </a:prstGeom>
          <a:solidFill>
            <a:srgbClr val="F2EEEE"/>
          </a:solidFill>
          <a:ln/>
        </p:spPr>
      </p:sp>
      <p:pic>
        <p:nvPicPr>
          <p:cNvPr id="60" name="Image 3" descr="preencoded.png">
            <a:extLst>
              <a:ext uri="{FF2B5EF4-FFF2-40B4-BE49-F238E27FC236}">
                <a16:creationId xmlns:a16="http://schemas.microsoft.com/office/drawing/2014/main" id="{BA17F3D5-9315-A854-6195-7D8D187A6D21}"/>
              </a:ext>
            </a:extLst>
          </p:cNvPr>
          <p:cNvPicPr>
            <a:picLocks noChangeAspect="1"/>
          </p:cNvPicPr>
          <p:nvPr/>
        </p:nvPicPr>
        <p:blipFill>
          <a:blip r:embed="rId19"/>
          <a:stretch>
            <a:fillRect/>
          </a:stretch>
        </p:blipFill>
        <p:spPr>
          <a:xfrm>
            <a:off x="9276441" y="1297511"/>
            <a:ext cx="309324" cy="386715"/>
          </a:xfrm>
          <a:prstGeom prst="rect">
            <a:avLst/>
          </a:prstGeom>
        </p:spPr>
      </p:pic>
      <p:sp>
        <p:nvSpPr>
          <p:cNvPr id="61" name="Text 9">
            <a:extLst>
              <a:ext uri="{FF2B5EF4-FFF2-40B4-BE49-F238E27FC236}">
                <a16:creationId xmlns:a16="http://schemas.microsoft.com/office/drawing/2014/main" id="{D944E1AC-530D-3B40-4C66-65BD9B7BD837}"/>
              </a:ext>
            </a:extLst>
          </p:cNvPr>
          <p:cNvSpPr/>
          <p:nvPr/>
        </p:nvSpPr>
        <p:spPr>
          <a:xfrm>
            <a:off x="9913187" y="1235718"/>
            <a:ext cx="2578060" cy="322183"/>
          </a:xfrm>
          <a:prstGeom prst="rect">
            <a:avLst/>
          </a:prstGeom>
          <a:noFill/>
          <a:ln/>
        </p:spPr>
        <p:txBody>
          <a:bodyPr wrap="none" lIns="0" tIns="0" rIns="0" bIns="0" rtlCol="0" anchor="t"/>
          <a:lstStyle/>
          <a:p>
            <a:pPr marL="0" indent="0" algn="l">
              <a:lnSpc>
                <a:spcPts val="2500"/>
              </a:lnSpc>
              <a:buNone/>
            </a:pPr>
            <a:r>
              <a:rPr lang="en-US" sz="2000" b="1" kern="0" spc="-20" dirty="0">
                <a:solidFill>
                  <a:srgbClr val="3D3838"/>
                </a:solidFill>
                <a:latin typeface="Montserrat Bold" pitchFamily="34" charset="0"/>
                <a:ea typeface="Montserrat Bold" pitchFamily="34" charset="-122"/>
                <a:cs typeface="Montserrat Bold" pitchFamily="34" charset="-120"/>
              </a:rPr>
              <a:t>Payment Patterns</a:t>
            </a:r>
            <a:endParaRPr lang="en-US" sz="2000" dirty="0"/>
          </a:p>
        </p:txBody>
      </p:sp>
      <p:sp>
        <p:nvSpPr>
          <p:cNvPr id="62" name="Text 10">
            <a:extLst>
              <a:ext uri="{FF2B5EF4-FFF2-40B4-BE49-F238E27FC236}">
                <a16:creationId xmlns:a16="http://schemas.microsoft.com/office/drawing/2014/main" id="{0392820A-F050-3467-0E77-0AC86732BA5B}"/>
              </a:ext>
            </a:extLst>
          </p:cNvPr>
          <p:cNvSpPr/>
          <p:nvPr/>
        </p:nvSpPr>
        <p:spPr>
          <a:xfrm>
            <a:off x="9913187" y="1503760"/>
            <a:ext cx="3459004" cy="1701998"/>
          </a:xfrm>
          <a:prstGeom prst="rect">
            <a:avLst/>
          </a:prstGeom>
          <a:noFill/>
          <a:ln/>
        </p:spPr>
        <p:txBody>
          <a:bodyPr wrap="square" lIns="0" tIns="0" rIns="0" bIns="0" rtlCol="0" anchor="t"/>
          <a:lstStyle/>
          <a:p>
            <a:pPr marL="0" indent="0" algn="l">
              <a:lnSpc>
                <a:spcPts val="2650"/>
              </a:lnSpc>
              <a:buNone/>
            </a:pPr>
            <a:r>
              <a:rPr lang="en-US" sz="1750" dirty="0">
                <a:solidFill>
                  <a:srgbClr val="3D3838"/>
                </a:solidFill>
                <a:latin typeface="Source Sans Pro" pitchFamily="34" charset="0"/>
                <a:ea typeface="Source Sans Pro" pitchFamily="34" charset="-122"/>
                <a:cs typeface="Source Sans Pro" pitchFamily="34" charset="-120"/>
              </a:rPr>
              <a:t>Analysis identified correlations between purchase patterns and payment behavior, providing valuable insights for future credit decisions.</a:t>
            </a:r>
            <a:endParaRPr lang="en-US" sz="1750" dirty="0"/>
          </a:p>
        </p:txBody>
      </p:sp>
      <p:sp>
        <p:nvSpPr>
          <p:cNvPr id="63" name="TextBox 62">
            <a:extLst>
              <a:ext uri="{FF2B5EF4-FFF2-40B4-BE49-F238E27FC236}">
                <a16:creationId xmlns:a16="http://schemas.microsoft.com/office/drawing/2014/main" id="{E2A19F7F-B8BD-BC6E-FEED-D80CDF5F8C34}"/>
              </a:ext>
            </a:extLst>
          </p:cNvPr>
          <p:cNvSpPr txBox="1"/>
          <p:nvPr/>
        </p:nvSpPr>
        <p:spPr>
          <a:xfrm>
            <a:off x="628990" y="6514351"/>
            <a:ext cx="6780252" cy="1323439"/>
          </a:xfrm>
          <a:prstGeom prst="rect">
            <a:avLst/>
          </a:prstGeom>
          <a:noFill/>
        </p:spPr>
        <p:txBody>
          <a:bodyPr wrap="square" rtlCol="0">
            <a:spAutoFit/>
          </a:bodyPr>
          <a:lstStyle/>
          <a:p>
            <a:r>
              <a:rPr lang="en-US" sz="1600" dirty="0">
                <a:solidFill>
                  <a:srgbClr val="3D3838"/>
                </a:solidFill>
                <a:latin typeface="Source Sans Pro" pitchFamily="34" charset="0"/>
                <a:ea typeface="Source Sans Pro" pitchFamily="34" charset="-122"/>
                <a:cs typeface="Source Sans Pro" pitchFamily="34" charset="-120"/>
              </a:rPr>
              <a:t>By implementing a structured credit scoring system, the business can now make more informed decisions about payment terms and credit limits for different customer segments, from Tier 1 (prompt payment) to Restricted (cash-only terms).</a:t>
            </a:r>
            <a:endParaRPr lang="en-US" sz="1600" dirty="0"/>
          </a:p>
          <a:p>
            <a:endParaRPr lang="en-IN" sz="1600" dirty="0"/>
          </a:p>
        </p:txBody>
      </p:sp>
      <p:pic>
        <p:nvPicPr>
          <p:cNvPr id="4" name="Picture 3">
            <a:extLst>
              <a:ext uri="{FF2B5EF4-FFF2-40B4-BE49-F238E27FC236}">
                <a16:creationId xmlns:a16="http://schemas.microsoft.com/office/drawing/2014/main" id="{5EF2973F-2114-B677-055C-D0CFED7A2006}"/>
              </a:ext>
            </a:extLst>
          </p:cNvPr>
          <p:cNvPicPr>
            <a:picLocks noChangeAspect="1"/>
          </p:cNvPicPr>
          <p:nvPr/>
        </p:nvPicPr>
        <p:blipFill>
          <a:blip r:embed="rId20"/>
          <a:stretch>
            <a:fillRect/>
          </a:stretch>
        </p:blipFill>
        <p:spPr>
          <a:xfrm>
            <a:off x="6094308" y="3212367"/>
            <a:ext cx="3247361" cy="224363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96835" y="311825"/>
            <a:ext cx="3701534" cy="316230"/>
          </a:xfrm>
          <a:prstGeom prst="rect">
            <a:avLst/>
          </a:prstGeom>
          <a:noFill/>
          <a:ln/>
        </p:spPr>
        <p:txBody>
          <a:bodyPr wrap="none" lIns="0" tIns="0" rIns="0" bIns="0" rtlCol="0" anchor="t"/>
          <a:lstStyle/>
          <a:p>
            <a:pPr marL="0" indent="0" algn="l">
              <a:lnSpc>
                <a:spcPts val="2450"/>
              </a:lnSpc>
              <a:buNone/>
            </a:pPr>
            <a:r>
              <a:rPr lang="en-US" sz="3600" dirty="0">
                <a:solidFill>
                  <a:srgbClr val="020202"/>
                </a:solidFill>
                <a:latin typeface="PT Serif" pitchFamily="34" charset="0"/>
                <a:ea typeface="PT Serif" pitchFamily="34" charset="-122"/>
                <a:cs typeface="PT Serif" pitchFamily="34" charset="-120"/>
              </a:rPr>
              <a:t>Supplier Performance Evaluation</a:t>
            </a:r>
            <a:endParaRPr lang="en-US" sz="3600" dirty="0"/>
          </a:p>
        </p:txBody>
      </p:sp>
      <p:sp>
        <p:nvSpPr>
          <p:cNvPr id="7" name="Text 5"/>
          <p:cNvSpPr/>
          <p:nvPr/>
        </p:nvSpPr>
        <p:spPr>
          <a:xfrm>
            <a:off x="396835" y="2437764"/>
            <a:ext cx="5127307" cy="154305"/>
          </a:xfrm>
          <a:prstGeom prst="rect">
            <a:avLst/>
          </a:prstGeom>
          <a:noFill/>
          <a:ln/>
        </p:spPr>
        <p:txBody>
          <a:bodyPr wrap="none" lIns="0" tIns="0" rIns="0" bIns="0" rtlCol="0" anchor="t"/>
          <a:lstStyle/>
          <a:p>
            <a:pPr marL="0" indent="0" algn="r">
              <a:lnSpc>
                <a:spcPts val="1200"/>
              </a:lnSpc>
              <a:buNone/>
            </a:pPr>
            <a:endParaRPr lang="en-US" sz="750" dirty="0"/>
          </a:p>
        </p:txBody>
      </p:sp>
      <p:sp>
        <p:nvSpPr>
          <p:cNvPr id="11" name="Text 7"/>
          <p:cNvSpPr/>
          <p:nvPr/>
        </p:nvSpPr>
        <p:spPr>
          <a:xfrm>
            <a:off x="9106257" y="2210753"/>
            <a:ext cx="1265158" cy="158115"/>
          </a:xfrm>
          <a:prstGeom prst="rect">
            <a:avLst/>
          </a:prstGeom>
          <a:noFill/>
          <a:ln/>
        </p:spPr>
        <p:txBody>
          <a:bodyPr wrap="none" lIns="0" tIns="0" rIns="0" bIns="0" rtlCol="0" anchor="t"/>
          <a:lstStyle/>
          <a:p>
            <a:pPr marL="0" indent="0" algn="l">
              <a:lnSpc>
                <a:spcPts val="1200"/>
              </a:lnSpc>
              <a:buNone/>
            </a:pPr>
            <a:endParaRPr lang="en-US" sz="950" dirty="0"/>
          </a:p>
        </p:txBody>
      </p:sp>
      <p:sp>
        <p:nvSpPr>
          <p:cNvPr id="21" name="Text 13"/>
          <p:cNvSpPr/>
          <p:nvPr/>
        </p:nvSpPr>
        <p:spPr>
          <a:xfrm>
            <a:off x="4258985" y="3929539"/>
            <a:ext cx="1265158" cy="158115"/>
          </a:xfrm>
          <a:prstGeom prst="rect">
            <a:avLst/>
          </a:prstGeom>
          <a:noFill/>
          <a:ln/>
        </p:spPr>
        <p:txBody>
          <a:bodyPr wrap="none" lIns="0" tIns="0" rIns="0" bIns="0" rtlCol="0" anchor="t"/>
          <a:lstStyle/>
          <a:p>
            <a:pPr marL="0" indent="0" algn="r">
              <a:lnSpc>
                <a:spcPts val="1200"/>
              </a:lnSpc>
              <a:buNone/>
            </a:pPr>
            <a:endParaRPr lang="en-US" sz="950" dirty="0"/>
          </a:p>
        </p:txBody>
      </p:sp>
      <p:sp>
        <p:nvSpPr>
          <p:cNvPr id="22" name="Text 14"/>
          <p:cNvSpPr/>
          <p:nvPr/>
        </p:nvSpPr>
        <p:spPr>
          <a:xfrm>
            <a:off x="396835" y="4145399"/>
            <a:ext cx="5127307" cy="154305"/>
          </a:xfrm>
          <a:prstGeom prst="rect">
            <a:avLst/>
          </a:prstGeom>
          <a:noFill/>
          <a:ln/>
        </p:spPr>
        <p:txBody>
          <a:bodyPr wrap="none" lIns="0" tIns="0" rIns="0" bIns="0" rtlCol="0" anchor="t"/>
          <a:lstStyle/>
          <a:p>
            <a:pPr marL="0" indent="0" algn="r">
              <a:lnSpc>
                <a:spcPts val="1200"/>
              </a:lnSpc>
              <a:buNone/>
            </a:pPr>
            <a:endParaRPr lang="en-US" sz="750" dirty="0"/>
          </a:p>
        </p:txBody>
      </p:sp>
      <p:pic>
        <p:nvPicPr>
          <p:cNvPr id="135" name="Picture 134">
            <a:extLst>
              <a:ext uri="{FF2B5EF4-FFF2-40B4-BE49-F238E27FC236}">
                <a16:creationId xmlns:a16="http://schemas.microsoft.com/office/drawing/2014/main" id="{A1F79A59-672C-A562-6DA4-5BAE6F21683D}"/>
              </a:ext>
            </a:extLst>
          </p:cNvPr>
          <p:cNvPicPr>
            <a:picLocks noChangeAspect="1"/>
          </p:cNvPicPr>
          <p:nvPr/>
        </p:nvPicPr>
        <p:blipFill>
          <a:blip r:embed="rId3"/>
          <a:stretch>
            <a:fillRect/>
          </a:stretch>
        </p:blipFill>
        <p:spPr>
          <a:xfrm>
            <a:off x="7955000" y="469940"/>
            <a:ext cx="6576033" cy="2681138"/>
          </a:xfrm>
          <a:prstGeom prst="rect">
            <a:avLst/>
          </a:prstGeom>
        </p:spPr>
      </p:pic>
      <p:pic>
        <p:nvPicPr>
          <p:cNvPr id="139" name="Picture 138">
            <a:extLst>
              <a:ext uri="{FF2B5EF4-FFF2-40B4-BE49-F238E27FC236}">
                <a16:creationId xmlns:a16="http://schemas.microsoft.com/office/drawing/2014/main" id="{DBD71BFA-E6F4-F97D-8F90-7448C84CDE42}"/>
              </a:ext>
            </a:extLst>
          </p:cNvPr>
          <p:cNvPicPr>
            <a:picLocks noChangeAspect="1"/>
          </p:cNvPicPr>
          <p:nvPr/>
        </p:nvPicPr>
        <p:blipFill>
          <a:blip r:embed="rId4"/>
          <a:stretch>
            <a:fillRect/>
          </a:stretch>
        </p:blipFill>
        <p:spPr>
          <a:xfrm>
            <a:off x="280587" y="752545"/>
            <a:ext cx="5830114" cy="3524742"/>
          </a:xfrm>
          <a:prstGeom prst="rect">
            <a:avLst/>
          </a:prstGeom>
        </p:spPr>
      </p:pic>
      <p:pic>
        <p:nvPicPr>
          <p:cNvPr id="141" name="Picture 140">
            <a:extLst>
              <a:ext uri="{FF2B5EF4-FFF2-40B4-BE49-F238E27FC236}">
                <a16:creationId xmlns:a16="http://schemas.microsoft.com/office/drawing/2014/main" id="{80ED92B8-0F76-2600-E602-8C62C88F57CC}"/>
              </a:ext>
            </a:extLst>
          </p:cNvPr>
          <p:cNvPicPr>
            <a:picLocks noChangeAspect="1"/>
          </p:cNvPicPr>
          <p:nvPr/>
        </p:nvPicPr>
        <p:blipFill>
          <a:blip r:embed="rId5"/>
          <a:stretch>
            <a:fillRect/>
          </a:stretch>
        </p:blipFill>
        <p:spPr>
          <a:xfrm>
            <a:off x="4899941" y="2720366"/>
            <a:ext cx="4344420" cy="2091029"/>
          </a:xfrm>
          <a:prstGeom prst="rect">
            <a:avLst/>
          </a:prstGeom>
        </p:spPr>
      </p:pic>
      <p:sp>
        <p:nvSpPr>
          <p:cNvPr id="148" name="Slide Number Placeholder 147">
            <a:extLst>
              <a:ext uri="{FF2B5EF4-FFF2-40B4-BE49-F238E27FC236}">
                <a16:creationId xmlns:a16="http://schemas.microsoft.com/office/drawing/2014/main" id="{3221C06D-1744-3377-D5B7-CFC29F623552}"/>
              </a:ext>
            </a:extLst>
          </p:cNvPr>
          <p:cNvSpPr>
            <a:spLocks noGrp="1"/>
          </p:cNvSpPr>
          <p:nvPr>
            <p:ph type="sldNum" sz="quarter" idx="12"/>
          </p:nvPr>
        </p:nvSpPr>
        <p:spPr>
          <a:xfrm>
            <a:off x="11880550" y="7899273"/>
            <a:ext cx="1574430" cy="438150"/>
          </a:xfrm>
        </p:spPr>
        <p:txBody>
          <a:bodyPr/>
          <a:lstStyle/>
          <a:p>
            <a:fld id="{4FAB73BC-B049-4115-A692-8D63A059BFB8}" type="slidenum">
              <a:rPr lang="en-US" smtClean="0"/>
              <a:pPr/>
              <a:t>7</a:t>
            </a:fld>
            <a:endParaRPr lang="en-US" dirty="0"/>
          </a:p>
        </p:txBody>
      </p:sp>
      <p:sp>
        <p:nvSpPr>
          <p:cNvPr id="6" name="Text 1"/>
          <p:cNvSpPr/>
          <p:nvPr/>
        </p:nvSpPr>
        <p:spPr>
          <a:xfrm>
            <a:off x="817007" y="5078522"/>
            <a:ext cx="2122051" cy="265152"/>
          </a:xfrm>
          <a:prstGeom prst="rect">
            <a:avLst/>
          </a:prstGeom>
          <a:noFill/>
          <a:ln/>
        </p:spPr>
        <p:txBody>
          <a:bodyPr wrap="none" lIns="0" tIns="0" rIns="0" bIns="0" rtlCol="0" anchor="t"/>
          <a:lstStyle/>
          <a:p>
            <a:pPr marL="0" indent="0" algn="l">
              <a:lnSpc>
                <a:spcPts val="2050"/>
              </a:lnSpc>
              <a:buNone/>
            </a:pPr>
            <a:r>
              <a:rPr lang="en-US" sz="1650" b="1" kern="0" spc="-17" dirty="0">
                <a:solidFill>
                  <a:srgbClr val="000000"/>
                </a:solidFill>
                <a:latin typeface="Montserrat Bold" pitchFamily="34" charset="0"/>
                <a:ea typeface="Montserrat Bold" pitchFamily="34" charset="-122"/>
                <a:cs typeface="Montserrat Bold" pitchFamily="34" charset="-120"/>
              </a:rPr>
              <a:t>Super Glass Works</a:t>
            </a:r>
            <a:endParaRPr lang="en-US" sz="1650" dirty="0"/>
          </a:p>
        </p:txBody>
      </p:sp>
      <p:sp>
        <p:nvSpPr>
          <p:cNvPr id="8" name="Text 2"/>
          <p:cNvSpPr/>
          <p:nvPr/>
        </p:nvSpPr>
        <p:spPr>
          <a:xfrm>
            <a:off x="817007" y="5530365"/>
            <a:ext cx="4027884" cy="840105"/>
          </a:xfrm>
          <a:prstGeom prst="rect">
            <a:avLst/>
          </a:prstGeom>
          <a:noFill/>
          <a:ln/>
        </p:spPr>
        <p:txBody>
          <a:bodyPr wrap="square" lIns="0" tIns="0" rIns="0" bIns="0" rtlCol="0" anchor="t"/>
          <a:lstStyle/>
          <a:p>
            <a:pPr marL="0" indent="0" algn="l">
              <a:lnSpc>
                <a:spcPts val="2200"/>
              </a:lnSpc>
              <a:buNone/>
            </a:pPr>
            <a:r>
              <a:rPr lang="en-US" sz="1450" dirty="0">
                <a:solidFill>
                  <a:srgbClr val="3D3838"/>
                </a:solidFill>
                <a:latin typeface="Source Sans Pro" pitchFamily="34" charset="0"/>
                <a:ea typeface="Source Sans Pro" pitchFamily="34" charset="-122"/>
                <a:cs typeface="Source Sans Pro" pitchFamily="34" charset="-120"/>
              </a:rPr>
              <a:t>Emerged as the top performer, delivering consistently high-quality products with only a slight price premium compared to competitors.</a:t>
            </a:r>
            <a:endParaRPr lang="en-US" sz="1450" dirty="0"/>
          </a:p>
        </p:txBody>
      </p:sp>
      <p:sp>
        <p:nvSpPr>
          <p:cNvPr id="9" name="Text 3"/>
          <p:cNvSpPr/>
          <p:nvPr/>
        </p:nvSpPr>
        <p:spPr>
          <a:xfrm>
            <a:off x="817007" y="6538467"/>
            <a:ext cx="4027884" cy="280035"/>
          </a:xfrm>
          <a:prstGeom prst="rect">
            <a:avLst/>
          </a:prstGeom>
          <a:noFill/>
          <a:ln/>
        </p:spPr>
        <p:txBody>
          <a:bodyPr wrap="none" lIns="0" tIns="0" rIns="0" bIns="0" rtlCol="0" anchor="t"/>
          <a:lstStyle/>
          <a:p>
            <a:pPr marL="342900" indent="-342900" algn="l">
              <a:lnSpc>
                <a:spcPts val="2200"/>
              </a:lnSpc>
              <a:buSzPct val="100000"/>
              <a:buChar char="•"/>
            </a:pPr>
            <a:r>
              <a:rPr lang="en-US" sz="1450" dirty="0">
                <a:solidFill>
                  <a:srgbClr val="3D3838"/>
                </a:solidFill>
                <a:latin typeface="Source Sans Pro" pitchFamily="34" charset="0"/>
                <a:ea typeface="Source Sans Pro" pitchFamily="34" charset="-122"/>
                <a:cs typeface="Source Sans Pro" pitchFamily="34" charset="-120"/>
              </a:rPr>
              <a:t>Highest quality ratings</a:t>
            </a:r>
            <a:endParaRPr lang="en-US" sz="1450" dirty="0"/>
          </a:p>
        </p:txBody>
      </p:sp>
      <p:sp>
        <p:nvSpPr>
          <p:cNvPr id="10" name="Text 4"/>
          <p:cNvSpPr/>
          <p:nvPr/>
        </p:nvSpPr>
        <p:spPr>
          <a:xfrm>
            <a:off x="817007" y="6883748"/>
            <a:ext cx="4027884" cy="280035"/>
          </a:xfrm>
          <a:prstGeom prst="rect">
            <a:avLst/>
          </a:prstGeom>
          <a:noFill/>
          <a:ln/>
        </p:spPr>
        <p:txBody>
          <a:bodyPr wrap="none" lIns="0" tIns="0" rIns="0" bIns="0" rtlCol="0" anchor="t"/>
          <a:lstStyle/>
          <a:p>
            <a:pPr marL="342900" indent="-342900" algn="l">
              <a:lnSpc>
                <a:spcPts val="2200"/>
              </a:lnSpc>
              <a:buSzPct val="100000"/>
              <a:buChar char="•"/>
            </a:pPr>
            <a:r>
              <a:rPr lang="en-US" sz="1450" dirty="0">
                <a:solidFill>
                  <a:srgbClr val="3D3838"/>
                </a:solidFill>
                <a:latin typeface="Source Sans Pro" pitchFamily="34" charset="0"/>
                <a:ea typeface="Source Sans Pro" pitchFamily="34" charset="-122"/>
                <a:cs typeface="Source Sans Pro" pitchFamily="34" charset="-120"/>
              </a:rPr>
              <a:t>Best delivery times</a:t>
            </a:r>
            <a:endParaRPr lang="en-US" sz="1450" dirty="0"/>
          </a:p>
        </p:txBody>
      </p:sp>
      <p:sp>
        <p:nvSpPr>
          <p:cNvPr id="12" name="Text 5"/>
          <p:cNvSpPr/>
          <p:nvPr/>
        </p:nvSpPr>
        <p:spPr>
          <a:xfrm>
            <a:off x="817007" y="7229029"/>
            <a:ext cx="4027884" cy="280035"/>
          </a:xfrm>
          <a:prstGeom prst="rect">
            <a:avLst/>
          </a:prstGeom>
          <a:noFill/>
          <a:ln/>
        </p:spPr>
        <p:txBody>
          <a:bodyPr wrap="none" lIns="0" tIns="0" rIns="0" bIns="0" rtlCol="0" anchor="t"/>
          <a:lstStyle/>
          <a:p>
            <a:pPr marL="342900" indent="-342900" algn="l">
              <a:lnSpc>
                <a:spcPts val="2200"/>
              </a:lnSpc>
              <a:buSzPct val="100000"/>
              <a:buChar char="•"/>
            </a:pPr>
            <a:r>
              <a:rPr lang="en-US" sz="1450" dirty="0">
                <a:solidFill>
                  <a:srgbClr val="3D3838"/>
                </a:solidFill>
                <a:latin typeface="Source Sans Pro" pitchFamily="34" charset="0"/>
                <a:ea typeface="Source Sans Pro" pitchFamily="34" charset="-122"/>
                <a:cs typeface="Source Sans Pro" pitchFamily="34" charset="-120"/>
              </a:rPr>
              <a:t>Moderate price premium</a:t>
            </a:r>
            <a:endParaRPr lang="en-US" sz="1450" dirty="0"/>
          </a:p>
        </p:txBody>
      </p:sp>
      <p:sp>
        <p:nvSpPr>
          <p:cNvPr id="13" name="Text 6"/>
          <p:cNvSpPr/>
          <p:nvPr/>
        </p:nvSpPr>
        <p:spPr>
          <a:xfrm>
            <a:off x="5308044" y="5078522"/>
            <a:ext cx="2122051" cy="265152"/>
          </a:xfrm>
          <a:prstGeom prst="rect">
            <a:avLst/>
          </a:prstGeom>
          <a:noFill/>
          <a:ln/>
        </p:spPr>
        <p:txBody>
          <a:bodyPr wrap="none" lIns="0" tIns="0" rIns="0" bIns="0" rtlCol="0" anchor="t"/>
          <a:lstStyle/>
          <a:p>
            <a:pPr marL="0" indent="0" algn="l">
              <a:lnSpc>
                <a:spcPts val="2050"/>
              </a:lnSpc>
              <a:buNone/>
            </a:pPr>
            <a:r>
              <a:rPr lang="en-US" sz="1650" b="1" kern="0" spc="-17" dirty="0">
                <a:solidFill>
                  <a:srgbClr val="000000"/>
                </a:solidFill>
                <a:latin typeface="Montserrat Bold" pitchFamily="34" charset="0"/>
                <a:ea typeface="Montserrat Bold" pitchFamily="34" charset="-122"/>
                <a:cs typeface="Montserrat Bold" pitchFamily="34" charset="-120"/>
              </a:rPr>
              <a:t>NavJivan</a:t>
            </a:r>
            <a:endParaRPr lang="en-US" sz="1650" dirty="0"/>
          </a:p>
        </p:txBody>
      </p:sp>
      <p:sp>
        <p:nvSpPr>
          <p:cNvPr id="14" name="Text 7"/>
          <p:cNvSpPr/>
          <p:nvPr/>
        </p:nvSpPr>
        <p:spPr>
          <a:xfrm>
            <a:off x="5308044" y="5508063"/>
            <a:ext cx="4027884" cy="560070"/>
          </a:xfrm>
          <a:prstGeom prst="rect">
            <a:avLst/>
          </a:prstGeom>
          <a:noFill/>
          <a:ln/>
        </p:spPr>
        <p:txBody>
          <a:bodyPr wrap="square" lIns="0" tIns="0" rIns="0" bIns="0" rtlCol="0" anchor="t"/>
          <a:lstStyle/>
          <a:p>
            <a:pPr marL="0" indent="0" algn="l">
              <a:lnSpc>
                <a:spcPts val="2200"/>
              </a:lnSpc>
              <a:buNone/>
            </a:pPr>
            <a:r>
              <a:rPr lang="en-US" sz="1450" dirty="0">
                <a:solidFill>
                  <a:srgbClr val="3D3838"/>
                </a:solidFill>
                <a:latin typeface="Source Sans Pro" pitchFamily="34" charset="0"/>
                <a:ea typeface="Source Sans Pro" pitchFamily="34" charset="-122"/>
                <a:cs typeface="Source Sans Pro" pitchFamily="34" charset="-120"/>
              </a:rPr>
              <a:t>Supplied 45% of total units but had longer delivery times, affecting order fulfillment.</a:t>
            </a:r>
            <a:endParaRPr lang="en-US" sz="1450" dirty="0"/>
          </a:p>
        </p:txBody>
      </p:sp>
      <p:sp>
        <p:nvSpPr>
          <p:cNvPr id="15" name="Text 8"/>
          <p:cNvSpPr/>
          <p:nvPr/>
        </p:nvSpPr>
        <p:spPr>
          <a:xfrm>
            <a:off x="5308044" y="6258432"/>
            <a:ext cx="4027884" cy="280035"/>
          </a:xfrm>
          <a:prstGeom prst="rect">
            <a:avLst/>
          </a:prstGeom>
          <a:noFill/>
          <a:ln/>
        </p:spPr>
        <p:txBody>
          <a:bodyPr wrap="none" lIns="0" tIns="0" rIns="0" bIns="0" rtlCol="0" anchor="t"/>
          <a:lstStyle/>
          <a:p>
            <a:pPr marL="342900" indent="-342900" algn="l">
              <a:lnSpc>
                <a:spcPts val="2200"/>
              </a:lnSpc>
              <a:buSzPct val="100000"/>
              <a:buChar char="•"/>
            </a:pPr>
            <a:r>
              <a:rPr lang="en-US" sz="1450" dirty="0">
                <a:solidFill>
                  <a:srgbClr val="3D3838"/>
                </a:solidFill>
                <a:latin typeface="Source Sans Pro" pitchFamily="34" charset="0"/>
                <a:ea typeface="Source Sans Pro" pitchFamily="34" charset="-122"/>
                <a:cs typeface="Source Sans Pro" pitchFamily="34" charset="-120"/>
              </a:rPr>
              <a:t>Highest volume supplier</a:t>
            </a:r>
            <a:endParaRPr lang="en-US" sz="1450" dirty="0"/>
          </a:p>
        </p:txBody>
      </p:sp>
      <p:sp>
        <p:nvSpPr>
          <p:cNvPr id="16" name="Text 9"/>
          <p:cNvSpPr/>
          <p:nvPr/>
        </p:nvSpPr>
        <p:spPr>
          <a:xfrm>
            <a:off x="5308044" y="6603713"/>
            <a:ext cx="4027884" cy="280035"/>
          </a:xfrm>
          <a:prstGeom prst="rect">
            <a:avLst/>
          </a:prstGeom>
          <a:noFill/>
          <a:ln/>
        </p:spPr>
        <p:txBody>
          <a:bodyPr wrap="none" lIns="0" tIns="0" rIns="0" bIns="0" rtlCol="0" anchor="t"/>
          <a:lstStyle/>
          <a:p>
            <a:pPr marL="342900" indent="-342900" algn="l">
              <a:lnSpc>
                <a:spcPts val="2200"/>
              </a:lnSpc>
              <a:buSzPct val="100000"/>
              <a:buChar char="•"/>
            </a:pPr>
            <a:r>
              <a:rPr lang="en-US" sz="1450" dirty="0">
                <a:solidFill>
                  <a:srgbClr val="3D3838"/>
                </a:solidFill>
                <a:latin typeface="Source Sans Pro" pitchFamily="34" charset="0"/>
                <a:ea typeface="Source Sans Pro" pitchFamily="34" charset="-122"/>
                <a:cs typeface="Source Sans Pro" pitchFamily="34" charset="-120"/>
              </a:rPr>
              <a:t>Inconsistent delivery schedule</a:t>
            </a:r>
            <a:endParaRPr lang="en-US" sz="1450" dirty="0"/>
          </a:p>
        </p:txBody>
      </p:sp>
      <p:sp>
        <p:nvSpPr>
          <p:cNvPr id="17" name="Text 10"/>
          <p:cNvSpPr/>
          <p:nvPr/>
        </p:nvSpPr>
        <p:spPr>
          <a:xfrm>
            <a:off x="5308044" y="6948994"/>
            <a:ext cx="4027884" cy="280035"/>
          </a:xfrm>
          <a:prstGeom prst="rect">
            <a:avLst/>
          </a:prstGeom>
          <a:noFill/>
          <a:ln/>
        </p:spPr>
        <p:txBody>
          <a:bodyPr wrap="none" lIns="0" tIns="0" rIns="0" bIns="0" rtlCol="0" anchor="t"/>
          <a:lstStyle/>
          <a:p>
            <a:pPr marL="342900" indent="-342900" algn="l">
              <a:lnSpc>
                <a:spcPts val="2200"/>
              </a:lnSpc>
              <a:buSzPct val="100000"/>
              <a:buChar char="•"/>
            </a:pPr>
            <a:r>
              <a:rPr lang="en-US" sz="1450" dirty="0">
                <a:solidFill>
                  <a:srgbClr val="3D3838"/>
                </a:solidFill>
                <a:latin typeface="Source Sans Pro" pitchFamily="34" charset="0"/>
                <a:ea typeface="Source Sans Pro" pitchFamily="34" charset="-122"/>
                <a:cs typeface="Source Sans Pro" pitchFamily="34" charset="-120"/>
              </a:rPr>
              <a:t>Competitive pricing</a:t>
            </a:r>
            <a:endParaRPr lang="en-US" sz="1450" dirty="0"/>
          </a:p>
        </p:txBody>
      </p:sp>
      <p:sp>
        <p:nvSpPr>
          <p:cNvPr id="18" name="Text 11"/>
          <p:cNvSpPr/>
          <p:nvPr/>
        </p:nvSpPr>
        <p:spPr>
          <a:xfrm>
            <a:off x="9799082" y="5078522"/>
            <a:ext cx="2122051" cy="265152"/>
          </a:xfrm>
          <a:prstGeom prst="rect">
            <a:avLst/>
          </a:prstGeom>
          <a:noFill/>
          <a:ln/>
        </p:spPr>
        <p:txBody>
          <a:bodyPr wrap="none" lIns="0" tIns="0" rIns="0" bIns="0" rtlCol="0" anchor="t"/>
          <a:lstStyle/>
          <a:p>
            <a:pPr marL="0" indent="0" algn="l">
              <a:lnSpc>
                <a:spcPts val="2050"/>
              </a:lnSpc>
              <a:buNone/>
            </a:pPr>
            <a:r>
              <a:rPr lang="en-US" sz="1650" b="1" kern="0" spc="-17" dirty="0">
                <a:solidFill>
                  <a:srgbClr val="000000"/>
                </a:solidFill>
                <a:latin typeface="Montserrat Bold" pitchFamily="34" charset="0"/>
                <a:ea typeface="Montserrat Bold" pitchFamily="34" charset="-122"/>
                <a:cs typeface="Montserrat Bold" pitchFamily="34" charset="-120"/>
              </a:rPr>
              <a:t>Other Suppliers</a:t>
            </a:r>
            <a:endParaRPr lang="en-US" sz="1650" dirty="0"/>
          </a:p>
        </p:txBody>
      </p:sp>
      <p:sp>
        <p:nvSpPr>
          <p:cNvPr id="19" name="Text 12"/>
          <p:cNvSpPr/>
          <p:nvPr/>
        </p:nvSpPr>
        <p:spPr>
          <a:xfrm>
            <a:off x="9799082" y="5530365"/>
            <a:ext cx="4027884" cy="560070"/>
          </a:xfrm>
          <a:prstGeom prst="rect">
            <a:avLst/>
          </a:prstGeom>
          <a:noFill/>
          <a:ln/>
        </p:spPr>
        <p:txBody>
          <a:bodyPr wrap="square" lIns="0" tIns="0" rIns="0" bIns="0" rtlCol="0" anchor="t"/>
          <a:lstStyle/>
          <a:p>
            <a:pPr marL="0" indent="0" algn="l">
              <a:lnSpc>
                <a:spcPts val="2200"/>
              </a:lnSpc>
              <a:buNone/>
            </a:pPr>
            <a:r>
              <a:rPr lang="en-US" sz="1450" dirty="0">
                <a:solidFill>
                  <a:srgbClr val="3D3838"/>
                </a:solidFill>
                <a:latin typeface="Source Sans Pro" pitchFamily="34" charset="0"/>
                <a:ea typeface="Source Sans Pro" pitchFamily="34" charset="-122"/>
                <a:cs typeface="Source Sans Pro" pitchFamily="34" charset="-120"/>
              </a:rPr>
              <a:t>Showed strengths in specific areas but had notable weaknesses that affected overall performance.</a:t>
            </a:r>
            <a:endParaRPr lang="en-US" sz="1450" dirty="0"/>
          </a:p>
        </p:txBody>
      </p:sp>
      <p:sp>
        <p:nvSpPr>
          <p:cNvPr id="20" name="Text 13"/>
          <p:cNvSpPr/>
          <p:nvPr/>
        </p:nvSpPr>
        <p:spPr>
          <a:xfrm>
            <a:off x="9799082" y="6258432"/>
            <a:ext cx="4027884" cy="280035"/>
          </a:xfrm>
          <a:prstGeom prst="rect">
            <a:avLst/>
          </a:prstGeom>
          <a:noFill/>
          <a:ln/>
        </p:spPr>
        <p:txBody>
          <a:bodyPr wrap="none" lIns="0" tIns="0" rIns="0" bIns="0" rtlCol="0" anchor="t"/>
          <a:lstStyle/>
          <a:p>
            <a:pPr marL="342900" indent="-342900" algn="l">
              <a:lnSpc>
                <a:spcPts val="2200"/>
              </a:lnSpc>
              <a:buSzPct val="100000"/>
              <a:buChar char="•"/>
            </a:pPr>
            <a:r>
              <a:rPr lang="en-US" sz="1450" dirty="0">
                <a:solidFill>
                  <a:srgbClr val="3D3838"/>
                </a:solidFill>
                <a:latin typeface="Source Sans Pro" pitchFamily="34" charset="0"/>
                <a:ea typeface="Source Sans Pro" pitchFamily="34" charset="-122"/>
                <a:cs typeface="Source Sans Pro" pitchFamily="34" charset="-120"/>
              </a:rPr>
              <a:t>Variable quality standards</a:t>
            </a:r>
            <a:endParaRPr lang="en-US" sz="1450" dirty="0"/>
          </a:p>
        </p:txBody>
      </p:sp>
      <p:sp>
        <p:nvSpPr>
          <p:cNvPr id="23" name="Text 14"/>
          <p:cNvSpPr/>
          <p:nvPr/>
        </p:nvSpPr>
        <p:spPr>
          <a:xfrm>
            <a:off x="9799082" y="6603713"/>
            <a:ext cx="4027884" cy="280035"/>
          </a:xfrm>
          <a:prstGeom prst="rect">
            <a:avLst/>
          </a:prstGeom>
          <a:noFill/>
          <a:ln/>
        </p:spPr>
        <p:txBody>
          <a:bodyPr wrap="none" lIns="0" tIns="0" rIns="0" bIns="0" rtlCol="0" anchor="t"/>
          <a:lstStyle/>
          <a:p>
            <a:pPr marL="342900" indent="-342900" algn="l">
              <a:lnSpc>
                <a:spcPts val="2200"/>
              </a:lnSpc>
              <a:buSzPct val="100000"/>
              <a:buChar char="•"/>
            </a:pPr>
            <a:r>
              <a:rPr lang="en-US" sz="1450" dirty="0">
                <a:solidFill>
                  <a:srgbClr val="3D3838"/>
                </a:solidFill>
                <a:latin typeface="Source Sans Pro" pitchFamily="34" charset="0"/>
                <a:ea typeface="Source Sans Pro" pitchFamily="34" charset="-122"/>
                <a:cs typeface="Source Sans Pro" pitchFamily="34" charset="-120"/>
              </a:rPr>
              <a:t>Specialized product offerings</a:t>
            </a:r>
            <a:endParaRPr lang="en-US" sz="1450" dirty="0"/>
          </a:p>
        </p:txBody>
      </p:sp>
      <p:sp>
        <p:nvSpPr>
          <p:cNvPr id="24" name="Text 15"/>
          <p:cNvSpPr/>
          <p:nvPr/>
        </p:nvSpPr>
        <p:spPr>
          <a:xfrm>
            <a:off x="9799082" y="6948994"/>
            <a:ext cx="4027884" cy="280035"/>
          </a:xfrm>
          <a:prstGeom prst="rect">
            <a:avLst/>
          </a:prstGeom>
          <a:noFill/>
          <a:ln/>
        </p:spPr>
        <p:txBody>
          <a:bodyPr wrap="none" lIns="0" tIns="0" rIns="0" bIns="0" rtlCol="0" anchor="t"/>
          <a:lstStyle/>
          <a:p>
            <a:pPr marL="342900" indent="-342900" algn="l">
              <a:lnSpc>
                <a:spcPts val="2200"/>
              </a:lnSpc>
              <a:buSzPct val="100000"/>
              <a:buChar char="•"/>
            </a:pPr>
            <a:r>
              <a:rPr lang="en-US" sz="1450" dirty="0">
                <a:solidFill>
                  <a:srgbClr val="3D3838"/>
                </a:solidFill>
                <a:latin typeface="Source Sans Pro" pitchFamily="34" charset="0"/>
                <a:ea typeface="Source Sans Pro" pitchFamily="34" charset="-122"/>
              </a:rPr>
              <a:t>Cost inefficiency and late deliveries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39FC460A-2A52-A2E8-85E0-78E83308D3F3}"/>
              </a:ext>
            </a:extLst>
          </p:cNvPr>
          <p:cNvSpPr>
            <a:spLocks noGrp="1"/>
          </p:cNvSpPr>
          <p:nvPr>
            <p:ph type="sldNum" sz="quarter" idx="12"/>
          </p:nvPr>
        </p:nvSpPr>
        <p:spPr/>
        <p:txBody>
          <a:bodyPr/>
          <a:lstStyle/>
          <a:p>
            <a:fld id="{4FAB73BC-B049-4115-A692-8D63A059BFB8}" type="slidenum">
              <a:rPr lang="en-US" smtClean="0"/>
              <a:pPr/>
              <a:t>8</a:t>
            </a:fld>
            <a:endParaRPr lang="en-US" dirty="0"/>
          </a:p>
        </p:txBody>
      </p:sp>
      <p:sp>
        <p:nvSpPr>
          <p:cNvPr id="2" name="Title 1">
            <a:extLst>
              <a:ext uri="{FF2B5EF4-FFF2-40B4-BE49-F238E27FC236}">
                <a16:creationId xmlns:a16="http://schemas.microsoft.com/office/drawing/2014/main" id="{92AB035D-86AF-CC27-CDF8-8DA3F230D0DC}"/>
              </a:ext>
            </a:extLst>
          </p:cNvPr>
          <p:cNvSpPr>
            <a:spLocks noGrp="1"/>
          </p:cNvSpPr>
          <p:nvPr>
            <p:ph type="title" idx="4294967295"/>
          </p:nvPr>
        </p:nvSpPr>
        <p:spPr>
          <a:xfrm>
            <a:off x="0" y="401638"/>
            <a:ext cx="7165975" cy="1373187"/>
          </a:xfrm>
        </p:spPr>
        <p:txBody>
          <a:bodyPr>
            <a:normAutofit fontScale="90000"/>
          </a:bodyPr>
          <a:lstStyle/>
          <a:p>
            <a:r>
              <a:rPr lang="en-IN" sz="4400" spc="0" dirty="0">
                <a:latin typeface="PT Serif" panose="020A0603040505020204" pitchFamily="18" charset="0"/>
              </a:rPr>
              <a:t>      Sales and Forecasting</a:t>
            </a:r>
            <a:br>
              <a:rPr lang="en-IN" dirty="0"/>
            </a:br>
            <a:endParaRPr lang="en-IN" dirty="0"/>
          </a:p>
        </p:txBody>
      </p:sp>
      <p:pic>
        <p:nvPicPr>
          <p:cNvPr id="7" name="Picture 6">
            <a:extLst>
              <a:ext uri="{FF2B5EF4-FFF2-40B4-BE49-F238E27FC236}">
                <a16:creationId xmlns:a16="http://schemas.microsoft.com/office/drawing/2014/main" id="{37A6EBFB-C5BD-F39D-FE75-302A0A829F9B}"/>
              </a:ext>
            </a:extLst>
          </p:cNvPr>
          <p:cNvPicPr>
            <a:picLocks noChangeAspect="1"/>
          </p:cNvPicPr>
          <p:nvPr/>
        </p:nvPicPr>
        <p:blipFill>
          <a:blip r:embed="rId2"/>
          <a:stretch>
            <a:fillRect/>
          </a:stretch>
        </p:blipFill>
        <p:spPr>
          <a:xfrm>
            <a:off x="974646" y="1213604"/>
            <a:ext cx="6982799" cy="3448531"/>
          </a:xfrm>
          <a:prstGeom prst="rect">
            <a:avLst/>
          </a:prstGeom>
        </p:spPr>
      </p:pic>
      <p:sp>
        <p:nvSpPr>
          <p:cNvPr id="3" name="TextBox 2">
            <a:extLst>
              <a:ext uri="{FF2B5EF4-FFF2-40B4-BE49-F238E27FC236}">
                <a16:creationId xmlns:a16="http://schemas.microsoft.com/office/drawing/2014/main" id="{64FE146E-87A8-235B-DF28-4B219A50446B}"/>
              </a:ext>
            </a:extLst>
          </p:cNvPr>
          <p:cNvSpPr txBox="1"/>
          <p:nvPr/>
        </p:nvSpPr>
        <p:spPr>
          <a:xfrm>
            <a:off x="423746" y="1438507"/>
            <a:ext cx="13916722" cy="584775"/>
          </a:xfrm>
          <a:prstGeom prst="rect">
            <a:avLst/>
          </a:prstGeom>
          <a:noFill/>
        </p:spPr>
        <p:txBody>
          <a:bodyPr wrap="square" rtlCol="0">
            <a:spAutoFit/>
          </a:bodyPr>
          <a:lstStyle/>
          <a:p>
            <a:endParaRPr lang="en-US" sz="1400" dirty="0">
              <a:latin typeface="Roboto" panose="02000000000000000000" pitchFamily="2"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IN" dirty="0"/>
          </a:p>
        </p:txBody>
      </p:sp>
      <p:pic>
        <p:nvPicPr>
          <p:cNvPr id="6" name="Image 1" descr="preencoded.png"/>
          <p:cNvPicPr>
            <a:picLocks noChangeAspect="1"/>
          </p:cNvPicPr>
          <p:nvPr/>
        </p:nvPicPr>
        <p:blipFill>
          <a:blip r:embed="rId3"/>
          <a:stretch>
            <a:fillRect/>
          </a:stretch>
        </p:blipFill>
        <p:spPr>
          <a:xfrm>
            <a:off x="793313" y="4836676"/>
            <a:ext cx="3260884" cy="725329"/>
          </a:xfrm>
          <a:prstGeom prst="rect">
            <a:avLst/>
          </a:prstGeom>
        </p:spPr>
      </p:pic>
      <p:sp>
        <p:nvSpPr>
          <p:cNvPr id="8" name="Text 1"/>
          <p:cNvSpPr/>
          <p:nvPr/>
        </p:nvSpPr>
        <p:spPr>
          <a:xfrm>
            <a:off x="974646" y="5833943"/>
            <a:ext cx="2275523" cy="257532"/>
          </a:xfrm>
          <a:prstGeom prst="rect">
            <a:avLst/>
          </a:prstGeom>
          <a:noFill/>
          <a:ln/>
        </p:spPr>
        <p:txBody>
          <a:bodyPr wrap="none" lIns="0" tIns="0" rIns="0" bIns="0" rtlCol="0" anchor="t"/>
          <a:lstStyle/>
          <a:p>
            <a:pPr marL="0" indent="0" algn="l">
              <a:lnSpc>
                <a:spcPts val="2000"/>
              </a:lnSpc>
              <a:buNone/>
            </a:pPr>
            <a:r>
              <a:rPr lang="en-US" sz="1600" b="1" kern="0" spc="-16" dirty="0">
                <a:solidFill>
                  <a:srgbClr val="3D3838"/>
                </a:solidFill>
                <a:latin typeface="Montserrat Bold" pitchFamily="34" charset="0"/>
                <a:ea typeface="Montserrat Bold" pitchFamily="34" charset="-122"/>
                <a:cs typeface="Montserrat Bold" pitchFamily="34" charset="-120"/>
              </a:rPr>
              <a:t>Pattern Identification</a:t>
            </a:r>
            <a:endParaRPr lang="en-US" sz="1600" dirty="0"/>
          </a:p>
        </p:txBody>
      </p:sp>
      <p:sp>
        <p:nvSpPr>
          <p:cNvPr id="9" name="Text 2"/>
          <p:cNvSpPr/>
          <p:nvPr/>
        </p:nvSpPr>
        <p:spPr>
          <a:xfrm>
            <a:off x="974646" y="6200180"/>
            <a:ext cx="2898219" cy="1087755"/>
          </a:xfrm>
          <a:prstGeom prst="rect">
            <a:avLst/>
          </a:prstGeom>
          <a:noFill/>
          <a:ln/>
        </p:spPr>
        <p:txBody>
          <a:bodyPr wrap="square" lIns="0" tIns="0" rIns="0" bIns="0" rtlCol="0" anchor="t"/>
          <a:lstStyle/>
          <a:p>
            <a:pPr marL="0" indent="0" algn="l">
              <a:lnSpc>
                <a:spcPts val="2100"/>
              </a:lnSpc>
              <a:buNone/>
            </a:pPr>
            <a:r>
              <a:rPr lang="en-US" sz="1400" dirty="0">
                <a:solidFill>
                  <a:srgbClr val="3D3838"/>
                </a:solidFill>
                <a:latin typeface="Source Sans Pro" pitchFamily="34" charset="0"/>
                <a:ea typeface="Source Sans Pro" pitchFamily="34" charset="-122"/>
                <a:cs typeface="Source Sans Pro" pitchFamily="34" charset="-120"/>
              </a:rPr>
              <a:t>Clear seasonal patterns with significant peaks during October-December festive season when sales volume triples.</a:t>
            </a:r>
            <a:endParaRPr lang="en-US" sz="1400" dirty="0"/>
          </a:p>
        </p:txBody>
      </p:sp>
      <p:pic>
        <p:nvPicPr>
          <p:cNvPr id="12" name="Image 2" descr="preencoded.png"/>
          <p:cNvPicPr>
            <a:picLocks noChangeAspect="1"/>
          </p:cNvPicPr>
          <p:nvPr/>
        </p:nvPicPr>
        <p:blipFill>
          <a:blip r:embed="rId4"/>
          <a:stretch>
            <a:fillRect/>
          </a:stretch>
        </p:blipFill>
        <p:spPr>
          <a:xfrm>
            <a:off x="4054197" y="4836676"/>
            <a:ext cx="3261003" cy="725329"/>
          </a:xfrm>
          <a:prstGeom prst="rect">
            <a:avLst/>
          </a:prstGeom>
        </p:spPr>
      </p:pic>
      <p:sp>
        <p:nvSpPr>
          <p:cNvPr id="13" name="Text 3"/>
          <p:cNvSpPr/>
          <p:nvPr/>
        </p:nvSpPr>
        <p:spPr>
          <a:xfrm>
            <a:off x="4235529" y="5833943"/>
            <a:ext cx="2129790" cy="257532"/>
          </a:xfrm>
          <a:prstGeom prst="rect">
            <a:avLst/>
          </a:prstGeom>
          <a:noFill/>
          <a:ln/>
        </p:spPr>
        <p:txBody>
          <a:bodyPr wrap="none" lIns="0" tIns="0" rIns="0" bIns="0" rtlCol="0" anchor="t"/>
          <a:lstStyle/>
          <a:p>
            <a:pPr marL="0" indent="0" algn="l">
              <a:lnSpc>
                <a:spcPts val="2000"/>
              </a:lnSpc>
              <a:buNone/>
            </a:pPr>
            <a:r>
              <a:rPr lang="en-US" sz="1600" b="1" kern="0" spc="-16" dirty="0">
                <a:solidFill>
                  <a:srgbClr val="3D3838"/>
                </a:solidFill>
                <a:latin typeface="Montserrat Bold" pitchFamily="34" charset="0"/>
                <a:ea typeface="Montserrat Bold" pitchFamily="34" charset="-122"/>
                <a:cs typeface="Montserrat Bold" pitchFamily="34" charset="-120"/>
              </a:rPr>
              <a:t>Predictive Modeling</a:t>
            </a:r>
            <a:endParaRPr lang="en-US" sz="1600" dirty="0"/>
          </a:p>
        </p:txBody>
      </p:sp>
      <p:sp>
        <p:nvSpPr>
          <p:cNvPr id="14" name="Text 4"/>
          <p:cNvSpPr/>
          <p:nvPr/>
        </p:nvSpPr>
        <p:spPr>
          <a:xfrm>
            <a:off x="4235529" y="6200180"/>
            <a:ext cx="2898338" cy="815816"/>
          </a:xfrm>
          <a:prstGeom prst="rect">
            <a:avLst/>
          </a:prstGeom>
          <a:noFill/>
          <a:ln/>
        </p:spPr>
        <p:txBody>
          <a:bodyPr wrap="square" lIns="0" tIns="0" rIns="0" bIns="0" rtlCol="0" anchor="t"/>
          <a:lstStyle/>
          <a:p>
            <a:pPr marL="0" indent="0" algn="l">
              <a:lnSpc>
                <a:spcPts val="2100"/>
              </a:lnSpc>
              <a:buNone/>
            </a:pPr>
            <a:r>
              <a:rPr lang="en-US" sz="1400" dirty="0">
                <a:solidFill>
                  <a:srgbClr val="3D3838"/>
                </a:solidFill>
                <a:latin typeface="Source Sans Pro" pitchFamily="34" charset="0"/>
                <a:ea typeface="Source Sans Pro" pitchFamily="34" charset="-122"/>
                <a:cs typeface="Source Sans Pro" pitchFamily="34" charset="-120"/>
              </a:rPr>
              <a:t>ARIMA model provides reliable framework for anticipating inventory needs 3 months in advance.</a:t>
            </a:r>
            <a:endParaRPr lang="en-US" sz="1400" dirty="0"/>
          </a:p>
        </p:txBody>
      </p:sp>
      <p:pic>
        <p:nvPicPr>
          <p:cNvPr id="15" name="Image 3" descr="preencoded.png"/>
          <p:cNvPicPr>
            <a:picLocks noChangeAspect="1"/>
          </p:cNvPicPr>
          <p:nvPr/>
        </p:nvPicPr>
        <p:blipFill>
          <a:blip r:embed="rId5"/>
          <a:stretch>
            <a:fillRect/>
          </a:stretch>
        </p:blipFill>
        <p:spPr>
          <a:xfrm>
            <a:off x="7315200" y="4836676"/>
            <a:ext cx="3260884" cy="725329"/>
          </a:xfrm>
          <a:prstGeom prst="rect">
            <a:avLst/>
          </a:prstGeom>
        </p:spPr>
      </p:pic>
      <p:sp>
        <p:nvSpPr>
          <p:cNvPr id="16" name="Text 5"/>
          <p:cNvSpPr/>
          <p:nvPr/>
        </p:nvSpPr>
        <p:spPr>
          <a:xfrm>
            <a:off x="7496532" y="5833943"/>
            <a:ext cx="2060734" cy="257532"/>
          </a:xfrm>
          <a:prstGeom prst="rect">
            <a:avLst/>
          </a:prstGeom>
          <a:noFill/>
          <a:ln/>
        </p:spPr>
        <p:txBody>
          <a:bodyPr wrap="none" lIns="0" tIns="0" rIns="0" bIns="0" rtlCol="0" anchor="t"/>
          <a:lstStyle/>
          <a:p>
            <a:pPr marL="0" indent="0" algn="l">
              <a:lnSpc>
                <a:spcPts val="2000"/>
              </a:lnSpc>
              <a:buNone/>
            </a:pPr>
            <a:r>
              <a:rPr lang="en-US" sz="1600" b="1" kern="0" spc="-16" dirty="0">
                <a:solidFill>
                  <a:srgbClr val="3D3838"/>
                </a:solidFill>
                <a:latin typeface="Montserrat Bold" pitchFamily="34" charset="0"/>
                <a:ea typeface="Montserrat Bold" pitchFamily="34" charset="-122"/>
                <a:cs typeface="Montserrat Bold" pitchFamily="34" charset="-120"/>
              </a:rPr>
              <a:t>Validation</a:t>
            </a:r>
            <a:endParaRPr lang="en-US" sz="1600" dirty="0"/>
          </a:p>
        </p:txBody>
      </p:sp>
      <p:sp>
        <p:nvSpPr>
          <p:cNvPr id="17" name="Text 6"/>
          <p:cNvSpPr/>
          <p:nvPr/>
        </p:nvSpPr>
        <p:spPr>
          <a:xfrm>
            <a:off x="7496532" y="6200180"/>
            <a:ext cx="2898219" cy="1087755"/>
          </a:xfrm>
          <a:prstGeom prst="rect">
            <a:avLst/>
          </a:prstGeom>
          <a:noFill/>
          <a:ln/>
        </p:spPr>
        <p:txBody>
          <a:bodyPr wrap="square" lIns="0" tIns="0" rIns="0" bIns="0" rtlCol="0" anchor="t"/>
          <a:lstStyle/>
          <a:p>
            <a:pPr marL="0" indent="0" algn="l">
              <a:lnSpc>
                <a:spcPts val="2100"/>
              </a:lnSpc>
              <a:buNone/>
            </a:pPr>
            <a:r>
              <a:rPr lang="en-US" sz="1400" dirty="0">
                <a:solidFill>
                  <a:srgbClr val="3D3838"/>
                </a:solidFill>
                <a:latin typeface="Source Sans Pro" pitchFamily="34" charset="0"/>
                <a:ea typeface="Source Sans Pro" pitchFamily="34" charset="-122"/>
                <a:cs typeface="Source Sans Pro" pitchFamily="34" charset="-120"/>
              </a:rPr>
              <a:t>Forecasting accuracy validated against historical data, showing prediction error of less than 8% for most product categories.</a:t>
            </a:r>
            <a:endParaRPr lang="en-US" sz="1400" dirty="0"/>
          </a:p>
        </p:txBody>
      </p:sp>
      <p:pic>
        <p:nvPicPr>
          <p:cNvPr id="18" name="Image 4" descr="preencoded.png"/>
          <p:cNvPicPr>
            <a:picLocks noChangeAspect="1"/>
          </p:cNvPicPr>
          <p:nvPr/>
        </p:nvPicPr>
        <p:blipFill>
          <a:blip r:embed="rId6"/>
          <a:stretch>
            <a:fillRect/>
          </a:stretch>
        </p:blipFill>
        <p:spPr>
          <a:xfrm>
            <a:off x="10576084" y="4880283"/>
            <a:ext cx="3261003" cy="725329"/>
          </a:xfrm>
          <a:prstGeom prst="rect">
            <a:avLst/>
          </a:prstGeom>
        </p:spPr>
      </p:pic>
      <p:sp>
        <p:nvSpPr>
          <p:cNvPr id="19" name="Text 7"/>
          <p:cNvSpPr/>
          <p:nvPr/>
        </p:nvSpPr>
        <p:spPr>
          <a:xfrm>
            <a:off x="10757416" y="5833943"/>
            <a:ext cx="2060734" cy="257532"/>
          </a:xfrm>
          <a:prstGeom prst="rect">
            <a:avLst/>
          </a:prstGeom>
          <a:noFill/>
          <a:ln/>
        </p:spPr>
        <p:txBody>
          <a:bodyPr wrap="none" lIns="0" tIns="0" rIns="0" bIns="0" rtlCol="0" anchor="t"/>
          <a:lstStyle/>
          <a:p>
            <a:pPr marL="0" indent="0" algn="l">
              <a:lnSpc>
                <a:spcPts val="2000"/>
              </a:lnSpc>
              <a:buNone/>
            </a:pPr>
            <a:r>
              <a:rPr lang="en-US" sz="1600" b="1" kern="0" spc="-16" dirty="0">
                <a:solidFill>
                  <a:srgbClr val="3D3838"/>
                </a:solidFill>
                <a:latin typeface="Montserrat Bold" pitchFamily="34" charset="0"/>
                <a:ea typeface="Montserrat Bold" pitchFamily="34" charset="-122"/>
                <a:cs typeface="Montserrat Bold" pitchFamily="34" charset="-120"/>
              </a:rPr>
              <a:t>Strategic Planning</a:t>
            </a:r>
            <a:endParaRPr lang="en-US" sz="1600" dirty="0"/>
          </a:p>
        </p:txBody>
      </p:sp>
      <p:sp>
        <p:nvSpPr>
          <p:cNvPr id="20" name="Text 8"/>
          <p:cNvSpPr/>
          <p:nvPr/>
        </p:nvSpPr>
        <p:spPr>
          <a:xfrm>
            <a:off x="10757416" y="6200180"/>
            <a:ext cx="2898338" cy="1087755"/>
          </a:xfrm>
          <a:prstGeom prst="rect">
            <a:avLst/>
          </a:prstGeom>
          <a:noFill/>
          <a:ln/>
        </p:spPr>
        <p:txBody>
          <a:bodyPr wrap="square" lIns="0" tIns="0" rIns="0" bIns="0" rtlCol="0" anchor="t"/>
          <a:lstStyle/>
          <a:p>
            <a:pPr marL="0" indent="0" algn="l">
              <a:lnSpc>
                <a:spcPts val="2100"/>
              </a:lnSpc>
              <a:buNone/>
            </a:pPr>
            <a:r>
              <a:rPr lang="en-US" sz="1400" dirty="0">
                <a:solidFill>
                  <a:srgbClr val="3D3838"/>
                </a:solidFill>
                <a:latin typeface="Source Sans Pro" pitchFamily="34" charset="0"/>
                <a:ea typeface="Source Sans Pro" pitchFamily="34" charset="-122"/>
                <a:cs typeface="Source Sans Pro" pitchFamily="34" charset="-120"/>
              </a:rPr>
              <a:t>Enables proactive inventory planning to prevent stockouts during peak demand while minimizing excess inventory during slower months.</a:t>
            </a:r>
            <a:endParaRPr lang="en-US" sz="1400" dirty="0"/>
          </a:p>
        </p:txBody>
      </p:sp>
      <p:pic>
        <p:nvPicPr>
          <p:cNvPr id="5" name="Picture 4">
            <a:extLst>
              <a:ext uri="{FF2B5EF4-FFF2-40B4-BE49-F238E27FC236}">
                <a16:creationId xmlns:a16="http://schemas.microsoft.com/office/drawing/2014/main" id="{5064A1AC-511F-C542-2FBB-9A9CDAD7A19D}"/>
              </a:ext>
            </a:extLst>
          </p:cNvPr>
          <p:cNvPicPr>
            <a:picLocks noChangeAspect="1"/>
          </p:cNvPicPr>
          <p:nvPr/>
        </p:nvPicPr>
        <p:blipFill>
          <a:blip r:embed="rId7"/>
          <a:stretch>
            <a:fillRect/>
          </a:stretch>
        </p:blipFill>
        <p:spPr>
          <a:xfrm>
            <a:off x="9041704" y="1689411"/>
            <a:ext cx="2838846" cy="1762371"/>
          </a:xfrm>
          <a:prstGeom prst="rect">
            <a:avLst/>
          </a:prstGeom>
        </p:spPr>
      </p:pic>
    </p:spTree>
    <p:extLst>
      <p:ext uri="{BB962C8B-B14F-4D97-AF65-F5344CB8AC3E}">
        <p14:creationId xmlns:p14="http://schemas.microsoft.com/office/powerpoint/2010/main" val="3102096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33769"/>
            <a:ext cx="5656421" cy="706993"/>
          </a:xfrm>
          <a:prstGeom prst="rect">
            <a:avLst/>
          </a:prstGeom>
          <a:noFill/>
          <a:ln/>
        </p:spPr>
        <p:txBody>
          <a:bodyPr wrap="none" lIns="0" tIns="0" rIns="0" bIns="0" rtlCol="0" anchor="t"/>
          <a:lstStyle/>
          <a:p>
            <a:pPr marL="0" indent="0" algn="l">
              <a:lnSpc>
                <a:spcPts val="5550"/>
              </a:lnSpc>
              <a:buNone/>
            </a:pPr>
            <a:r>
              <a:rPr lang="en-US" sz="4450" dirty="0">
                <a:solidFill>
                  <a:srgbClr val="020202"/>
                </a:solidFill>
                <a:latin typeface="PT Serif" pitchFamily="34" charset="0"/>
                <a:ea typeface="PT Serif" pitchFamily="34" charset="-122"/>
                <a:cs typeface="PT Serif" pitchFamily="34" charset="-120"/>
              </a:rPr>
              <a:t>Key Findings</a:t>
            </a:r>
            <a:endParaRPr lang="en-US" sz="4450" dirty="0"/>
          </a:p>
        </p:txBody>
      </p:sp>
      <p:sp>
        <p:nvSpPr>
          <p:cNvPr id="3" name="Text 1"/>
          <p:cNvSpPr/>
          <p:nvPr/>
        </p:nvSpPr>
        <p:spPr>
          <a:xfrm>
            <a:off x="793788" y="1841724"/>
            <a:ext cx="13042821" cy="1034415"/>
          </a:xfrm>
          <a:prstGeom prst="rect">
            <a:avLst/>
          </a:prstGeom>
          <a:noFill/>
          <a:ln/>
        </p:spPr>
        <p:txBody>
          <a:bodyPr wrap="square" lIns="0" tIns="0" rIns="0" bIns="0" rtlCol="0" anchor="t"/>
          <a:lstStyle/>
          <a:p>
            <a:pPr marL="285750" indent="-285750" algn="l">
              <a:lnSpc>
                <a:spcPts val="2700"/>
              </a:lnSpc>
              <a:buFont typeface="Arial" panose="020B0604020202020204" pitchFamily="34" charset="0"/>
              <a:buChar char="•"/>
            </a:pPr>
            <a:r>
              <a:rPr lang="en-US" dirty="0">
                <a:solidFill>
                  <a:srgbClr val="383838"/>
                </a:solidFill>
                <a:latin typeface="DM Sans" pitchFamily="34" charset="0"/>
                <a:ea typeface="DM Sans" pitchFamily="34" charset="-122"/>
                <a:cs typeface="DM Sans" pitchFamily="34" charset="-120"/>
              </a:rPr>
              <a:t>The comprehensive data analysis revealed several critical insights that directly impact business performance. AL design bangles contribute 44% of total sales but frequently experience stockouts, indicating a significant opportunity cost and potential revenue loss during peak demand periods.</a:t>
            </a:r>
            <a:endParaRPr lang="en-US" dirty="0"/>
          </a:p>
        </p:txBody>
      </p:sp>
      <p:sp>
        <p:nvSpPr>
          <p:cNvPr id="4" name="Text 2"/>
          <p:cNvSpPr/>
          <p:nvPr/>
        </p:nvSpPr>
        <p:spPr>
          <a:xfrm>
            <a:off x="793790" y="2938290"/>
            <a:ext cx="13042821" cy="689610"/>
          </a:xfrm>
          <a:prstGeom prst="rect">
            <a:avLst/>
          </a:prstGeom>
          <a:noFill/>
          <a:ln/>
        </p:spPr>
        <p:txBody>
          <a:bodyPr wrap="square" lIns="0" tIns="0" rIns="0" bIns="0" rtlCol="0" anchor="t"/>
          <a:lstStyle/>
          <a:p>
            <a:pPr marL="285750" indent="-285750" algn="l">
              <a:lnSpc>
                <a:spcPts val="2700"/>
              </a:lnSpc>
              <a:buFont typeface="Arial" panose="020B0604020202020204" pitchFamily="34" charset="0"/>
              <a:buChar char="•"/>
            </a:pPr>
            <a:r>
              <a:rPr lang="en-US" dirty="0">
                <a:solidFill>
                  <a:srgbClr val="383838"/>
                </a:solidFill>
                <a:latin typeface="DM Sans" pitchFamily="34" charset="0"/>
                <a:ea typeface="DM Sans" pitchFamily="34" charset="-122"/>
                <a:cs typeface="DM Sans" pitchFamily="34" charset="-120"/>
              </a:rPr>
              <a:t>The credit analysis showed that ₹2.56 lakhs in overdue payments is heavily concentrated, with 80% of the amount attributed to just two customers(Shariq and Owais Bangle Store). This concentration represents a significant credit risk that requires immediate attention.</a:t>
            </a:r>
            <a:endParaRPr lang="en-US" dirty="0"/>
          </a:p>
        </p:txBody>
      </p:sp>
      <p:sp>
        <p:nvSpPr>
          <p:cNvPr id="5" name="Text 3"/>
          <p:cNvSpPr/>
          <p:nvPr/>
        </p:nvSpPr>
        <p:spPr>
          <a:xfrm>
            <a:off x="793786" y="4073075"/>
            <a:ext cx="13042821" cy="689610"/>
          </a:xfrm>
          <a:prstGeom prst="rect">
            <a:avLst/>
          </a:prstGeom>
          <a:noFill/>
          <a:ln/>
        </p:spPr>
        <p:txBody>
          <a:bodyPr wrap="square" lIns="0" tIns="0" rIns="0" bIns="0" rtlCol="0" anchor="t"/>
          <a:lstStyle/>
          <a:p>
            <a:pPr marL="285750" indent="-285750" algn="l">
              <a:lnSpc>
                <a:spcPts val="2700"/>
              </a:lnSpc>
              <a:buFont typeface="Arial" panose="020B0604020202020204" pitchFamily="34" charset="0"/>
              <a:buChar char="•"/>
            </a:pPr>
            <a:r>
              <a:rPr lang="en-US" dirty="0">
                <a:solidFill>
                  <a:srgbClr val="383838"/>
                </a:solidFill>
                <a:latin typeface="DM Sans" pitchFamily="34" charset="0"/>
                <a:ea typeface="DM Sans" pitchFamily="34" charset="-122"/>
                <a:cs typeface="DM Sans" pitchFamily="34" charset="-120"/>
              </a:rPr>
              <a:t>In supplier evaluation, Super Glass Works emerged as the most reliable partner, offering superior quality with only a modest price premium. The sales data also revealed clear seasonal patterns with significant peaks during the October-December festive season.</a:t>
            </a:r>
            <a:endParaRPr lang="en-US" dirty="0"/>
          </a:p>
        </p:txBody>
      </p:sp>
      <p:sp>
        <p:nvSpPr>
          <p:cNvPr id="6" name="Text 4"/>
          <p:cNvSpPr/>
          <p:nvPr/>
        </p:nvSpPr>
        <p:spPr>
          <a:xfrm>
            <a:off x="793790" y="5231725"/>
            <a:ext cx="4132183" cy="711041"/>
          </a:xfrm>
          <a:prstGeom prst="rect">
            <a:avLst/>
          </a:prstGeom>
          <a:noFill/>
          <a:ln/>
        </p:spPr>
        <p:txBody>
          <a:bodyPr wrap="none" lIns="0" tIns="0" rIns="0" bIns="0" rtlCol="0" anchor="t"/>
          <a:lstStyle/>
          <a:p>
            <a:pPr marL="0" indent="0" algn="ctr">
              <a:lnSpc>
                <a:spcPts val="5550"/>
              </a:lnSpc>
              <a:buNone/>
            </a:pPr>
            <a:r>
              <a:rPr lang="en-US" sz="5400" dirty="0">
                <a:solidFill>
                  <a:srgbClr val="383838"/>
                </a:solidFill>
                <a:latin typeface="PT Serif" pitchFamily="34" charset="0"/>
                <a:ea typeface="PT Serif" pitchFamily="34" charset="-122"/>
                <a:cs typeface="PT Serif" pitchFamily="34" charset="-120"/>
              </a:rPr>
              <a:t>44%</a:t>
            </a:r>
            <a:endParaRPr lang="en-US" sz="5400" dirty="0"/>
          </a:p>
        </p:txBody>
      </p:sp>
      <p:sp>
        <p:nvSpPr>
          <p:cNvPr id="7" name="Text 5"/>
          <p:cNvSpPr/>
          <p:nvPr/>
        </p:nvSpPr>
        <p:spPr>
          <a:xfrm>
            <a:off x="1445776" y="6211967"/>
            <a:ext cx="2828211" cy="353378"/>
          </a:xfrm>
          <a:prstGeom prst="rect">
            <a:avLst/>
          </a:prstGeom>
          <a:noFill/>
          <a:ln/>
        </p:spPr>
        <p:txBody>
          <a:bodyPr wrap="none" lIns="0" tIns="0" rIns="0" bIns="0" rtlCol="0" anchor="t"/>
          <a:lstStyle/>
          <a:p>
            <a:pPr marL="0" indent="0" algn="ctr">
              <a:lnSpc>
                <a:spcPts val="2750"/>
              </a:lnSpc>
              <a:buNone/>
            </a:pPr>
            <a:r>
              <a:rPr lang="en-US" sz="2200" dirty="0">
                <a:solidFill>
                  <a:srgbClr val="383838"/>
                </a:solidFill>
                <a:latin typeface="PT Serif" pitchFamily="34" charset="0"/>
                <a:ea typeface="PT Serif" pitchFamily="34" charset="-122"/>
                <a:cs typeface="PT Serif" pitchFamily="34" charset="-120"/>
              </a:rPr>
              <a:t>AL Design Sales</a:t>
            </a:r>
            <a:endParaRPr lang="en-US" sz="2200" dirty="0"/>
          </a:p>
        </p:txBody>
      </p:sp>
      <p:sp>
        <p:nvSpPr>
          <p:cNvPr id="8" name="Text 6"/>
          <p:cNvSpPr/>
          <p:nvPr/>
        </p:nvSpPr>
        <p:spPr>
          <a:xfrm>
            <a:off x="793790" y="6694527"/>
            <a:ext cx="4132183" cy="689610"/>
          </a:xfrm>
          <a:prstGeom prst="rect">
            <a:avLst/>
          </a:prstGeom>
          <a:noFill/>
          <a:ln/>
        </p:spPr>
        <p:txBody>
          <a:bodyPr wrap="square" lIns="0" tIns="0" rIns="0" bIns="0" rtlCol="0" anchor="t"/>
          <a:lstStyle/>
          <a:p>
            <a:pPr marL="0" indent="0" algn="ctr">
              <a:lnSpc>
                <a:spcPts val="2700"/>
              </a:lnSpc>
              <a:buNone/>
            </a:pPr>
            <a:r>
              <a:rPr lang="en-US" sz="1650" dirty="0">
                <a:solidFill>
                  <a:srgbClr val="383838"/>
                </a:solidFill>
                <a:latin typeface="DM Sans" pitchFamily="34" charset="0"/>
                <a:ea typeface="DM Sans" pitchFamily="34" charset="-122"/>
                <a:cs typeface="DM Sans" pitchFamily="34" charset="-120"/>
              </a:rPr>
              <a:t>Despite frequent stockouts, AL designs contribute nearly half of all sales</a:t>
            </a:r>
            <a:endParaRPr lang="en-US" sz="1650" dirty="0"/>
          </a:p>
        </p:txBody>
      </p:sp>
      <p:sp>
        <p:nvSpPr>
          <p:cNvPr id="9" name="Text 7"/>
          <p:cNvSpPr/>
          <p:nvPr/>
        </p:nvSpPr>
        <p:spPr>
          <a:xfrm>
            <a:off x="5249108" y="5231725"/>
            <a:ext cx="4132183" cy="711041"/>
          </a:xfrm>
          <a:prstGeom prst="rect">
            <a:avLst/>
          </a:prstGeom>
          <a:noFill/>
          <a:ln/>
        </p:spPr>
        <p:txBody>
          <a:bodyPr wrap="none" lIns="0" tIns="0" rIns="0" bIns="0" rtlCol="0" anchor="t"/>
          <a:lstStyle/>
          <a:p>
            <a:pPr marL="0" indent="0" algn="ctr">
              <a:lnSpc>
                <a:spcPts val="5550"/>
              </a:lnSpc>
              <a:buNone/>
            </a:pPr>
            <a:r>
              <a:rPr lang="en-US" sz="5400" dirty="0">
                <a:solidFill>
                  <a:srgbClr val="383838"/>
                </a:solidFill>
                <a:latin typeface="PT Serif" pitchFamily="34" charset="0"/>
                <a:ea typeface="PT Serif" pitchFamily="34" charset="-122"/>
                <a:cs typeface="PT Serif" pitchFamily="34" charset="-120"/>
              </a:rPr>
              <a:t>Rs.2.56L</a:t>
            </a:r>
            <a:endParaRPr lang="en-US" sz="5400" dirty="0"/>
          </a:p>
        </p:txBody>
      </p:sp>
      <p:sp>
        <p:nvSpPr>
          <p:cNvPr id="10" name="Text 8"/>
          <p:cNvSpPr/>
          <p:nvPr/>
        </p:nvSpPr>
        <p:spPr>
          <a:xfrm>
            <a:off x="5901095" y="6211967"/>
            <a:ext cx="2828211" cy="353378"/>
          </a:xfrm>
          <a:prstGeom prst="rect">
            <a:avLst/>
          </a:prstGeom>
          <a:noFill/>
          <a:ln/>
        </p:spPr>
        <p:txBody>
          <a:bodyPr wrap="none" lIns="0" tIns="0" rIns="0" bIns="0" rtlCol="0" anchor="t"/>
          <a:lstStyle/>
          <a:p>
            <a:pPr marL="0" indent="0" algn="ctr">
              <a:lnSpc>
                <a:spcPts val="2750"/>
              </a:lnSpc>
              <a:buNone/>
            </a:pPr>
            <a:r>
              <a:rPr lang="en-US" sz="2200" dirty="0">
                <a:solidFill>
                  <a:srgbClr val="383838"/>
                </a:solidFill>
                <a:latin typeface="PT Serif" pitchFamily="34" charset="0"/>
                <a:ea typeface="PT Serif" pitchFamily="34" charset="-122"/>
                <a:cs typeface="PT Serif" pitchFamily="34" charset="-120"/>
              </a:rPr>
              <a:t>Overdue Payments</a:t>
            </a:r>
            <a:endParaRPr lang="en-US" sz="2200" dirty="0"/>
          </a:p>
        </p:txBody>
      </p:sp>
      <p:sp>
        <p:nvSpPr>
          <p:cNvPr id="11" name="Text 9"/>
          <p:cNvSpPr/>
          <p:nvPr/>
        </p:nvSpPr>
        <p:spPr>
          <a:xfrm>
            <a:off x="5249108" y="6694527"/>
            <a:ext cx="4132183" cy="689610"/>
          </a:xfrm>
          <a:prstGeom prst="rect">
            <a:avLst/>
          </a:prstGeom>
          <a:noFill/>
          <a:ln/>
        </p:spPr>
        <p:txBody>
          <a:bodyPr wrap="square" lIns="0" tIns="0" rIns="0" bIns="0" rtlCol="0" anchor="t"/>
          <a:lstStyle/>
          <a:p>
            <a:pPr marL="0" indent="0" algn="ctr">
              <a:lnSpc>
                <a:spcPts val="2700"/>
              </a:lnSpc>
              <a:buNone/>
            </a:pPr>
            <a:r>
              <a:rPr lang="en-US" sz="1650" dirty="0">
                <a:solidFill>
                  <a:srgbClr val="383838"/>
                </a:solidFill>
                <a:latin typeface="DM Sans" pitchFamily="34" charset="0"/>
                <a:ea typeface="DM Sans" pitchFamily="34" charset="-122"/>
                <a:cs typeface="DM Sans" pitchFamily="34" charset="-120"/>
              </a:rPr>
              <a:t>80% concentrated among just two customers (Shariq and Owais)</a:t>
            </a:r>
            <a:endParaRPr lang="en-US" sz="1650" dirty="0"/>
          </a:p>
        </p:txBody>
      </p:sp>
      <p:sp>
        <p:nvSpPr>
          <p:cNvPr id="12" name="Text 10"/>
          <p:cNvSpPr/>
          <p:nvPr/>
        </p:nvSpPr>
        <p:spPr>
          <a:xfrm>
            <a:off x="9704427" y="5231725"/>
            <a:ext cx="4132183" cy="711041"/>
          </a:xfrm>
          <a:prstGeom prst="rect">
            <a:avLst/>
          </a:prstGeom>
          <a:noFill/>
          <a:ln/>
        </p:spPr>
        <p:txBody>
          <a:bodyPr wrap="none" lIns="0" tIns="0" rIns="0" bIns="0" rtlCol="0" anchor="t"/>
          <a:lstStyle/>
          <a:p>
            <a:pPr marL="0" indent="0" algn="ctr">
              <a:lnSpc>
                <a:spcPts val="5550"/>
              </a:lnSpc>
              <a:buNone/>
            </a:pPr>
            <a:r>
              <a:rPr lang="en-US" sz="5400" dirty="0">
                <a:solidFill>
                  <a:srgbClr val="383838"/>
                </a:solidFill>
                <a:latin typeface="PT Serif" pitchFamily="34" charset="0"/>
                <a:ea typeface="PT Serif" pitchFamily="34" charset="-122"/>
                <a:cs typeface="PT Serif" pitchFamily="34" charset="-120"/>
              </a:rPr>
              <a:t>3x</a:t>
            </a:r>
            <a:endParaRPr lang="en-US" sz="5400" dirty="0"/>
          </a:p>
        </p:txBody>
      </p:sp>
      <p:sp>
        <p:nvSpPr>
          <p:cNvPr id="13" name="Text 11"/>
          <p:cNvSpPr/>
          <p:nvPr/>
        </p:nvSpPr>
        <p:spPr>
          <a:xfrm>
            <a:off x="10356413" y="6211967"/>
            <a:ext cx="2828211" cy="353378"/>
          </a:xfrm>
          <a:prstGeom prst="rect">
            <a:avLst/>
          </a:prstGeom>
          <a:noFill/>
          <a:ln/>
        </p:spPr>
        <p:txBody>
          <a:bodyPr wrap="none" lIns="0" tIns="0" rIns="0" bIns="0" rtlCol="0" anchor="t"/>
          <a:lstStyle/>
          <a:p>
            <a:pPr marL="0" indent="0" algn="ctr">
              <a:lnSpc>
                <a:spcPts val="2750"/>
              </a:lnSpc>
              <a:buNone/>
            </a:pPr>
            <a:r>
              <a:rPr lang="en-US" sz="2200" dirty="0">
                <a:solidFill>
                  <a:srgbClr val="383838"/>
                </a:solidFill>
                <a:latin typeface="PT Serif" pitchFamily="34" charset="0"/>
                <a:ea typeface="PT Serif" pitchFamily="34" charset="-122"/>
                <a:cs typeface="PT Serif" pitchFamily="34" charset="-120"/>
              </a:rPr>
              <a:t>Seasonal Increase</a:t>
            </a:r>
            <a:endParaRPr lang="en-US" sz="2200" dirty="0"/>
          </a:p>
        </p:txBody>
      </p:sp>
      <p:sp>
        <p:nvSpPr>
          <p:cNvPr id="14" name="Text 12"/>
          <p:cNvSpPr/>
          <p:nvPr/>
        </p:nvSpPr>
        <p:spPr>
          <a:xfrm>
            <a:off x="9704427" y="6694527"/>
            <a:ext cx="4132183" cy="689610"/>
          </a:xfrm>
          <a:prstGeom prst="rect">
            <a:avLst/>
          </a:prstGeom>
          <a:noFill/>
          <a:ln/>
        </p:spPr>
        <p:txBody>
          <a:bodyPr wrap="square" lIns="0" tIns="0" rIns="0" bIns="0" rtlCol="0" anchor="t"/>
          <a:lstStyle/>
          <a:p>
            <a:pPr marL="0" indent="0" algn="ctr">
              <a:lnSpc>
                <a:spcPts val="2700"/>
              </a:lnSpc>
              <a:buNone/>
            </a:pPr>
            <a:r>
              <a:rPr lang="en-US" sz="1650" dirty="0">
                <a:solidFill>
                  <a:srgbClr val="383838"/>
                </a:solidFill>
                <a:latin typeface="DM Sans" pitchFamily="34" charset="0"/>
                <a:ea typeface="DM Sans" pitchFamily="34" charset="-122"/>
                <a:cs typeface="DM Sans" pitchFamily="34" charset="-120"/>
              </a:rPr>
              <a:t>Sales volume triples during October-December festive period</a:t>
            </a:r>
            <a:endParaRPr lang="en-US" sz="1650" dirty="0"/>
          </a:p>
        </p:txBody>
      </p:sp>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0CD01C27-BE57-C443-65C9-1B844EF7974B}"/>
                  </a:ext>
                </a:extLst>
              </p14:cNvPr>
              <p14:cNvContentPartPr/>
              <p14:nvPr/>
            </p14:nvContentPartPr>
            <p14:xfrm>
              <a:off x="12338257" y="5821829"/>
              <a:ext cx="360" cy="360"/>
            </p14:xfrm>
          </p:contentPart>
        </mc:Choice>
        <mc:Fallback xmlns="">
          <p:pic>
            <p:nvPicPr>
              <p:cNvPr id="15" name="Ink 14">
                <a:extLst>
                  <a:ext uri="{FF2B5EF4-FFF2-40B4-BE49-F238E27FC236}">
                    <a16:creationId xmlns:a16="http://schemas.microsoft.com/office/drawing/2014/main" id="{0CD01C27-BE57-C443-65C9-1B844EF7974B}"/>
                  </a:ext>
                </a:extLst>
              </p:cNvPr>
              <p:cNvPicPr/>
              <p:nvPr/>
            </p:nvPicPr>
            <p:blipFill>
              <a:blip r:embed="rId4"/>
              <a:stretch>
                <a:fillRect/>
              </a:stretch>
            </p:blipFill>
            <p:spPr>
              <a:xfrm>
                <a:off x="12302617" y="5785829"/>
                <a:ext cx="72000" cy="72000"/>
              </a:xfrm>
              <a:prstGeom prst="rect">
                <a:avLst/>
              </a:prstGeom>
            </p:spPr>
          </p:pic>
        </mc:Fallback>
      </mc:AlternateContent>
      <p:sp>
        <p:nvSpPr>
          <p:cNvPr id="44" name="Slide Number Placeholder 43">
            <a:extLst>
              <a:ext uri="{FF2B5EF4-FFF2-40B4-BE49-F238E27FC236}">
                <a16:creationId xmlns:a16="http://schemas.microsoft.com/office/drawing/2014/main" id="{514D366D-D180-BB61-1EC6-E0813B12C5B3}"/>
              </a:ext>
            </a:extLst>
          </p:cNvPr>
          <p:cNvSpPr>
            <a:spLocks noGrp="1"/>
          </p:cNvSpPr>
          <p:nvPr>
            <p:ph type="sldNum" sz="quarter" idx="12"/>
          </p:nvPr>
        </p:nvSpPr>
        <p:spPr/>
        <p:txBody>
          <a:bodyPr/>
          <a:lstStyle/>
          <a:p>
            <a:fld id="{4FAB73BC-B049-4115-A692-8D63A059BFB8}"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203840-6D84-C7C1-F127-3696F1DD73D8}"/>
              </a:ext>
            </a:extLst>
          </p:cNvPr>
          <p:cNvSpPr>
            <a:spLocks noGrp="1"/>
          </p:cNvSpPr>
          <p:nvPr>
            <p:ph type="sldNum" sz="quarter" idx="12"/>
          </p:nvPr>
        </p:nvSpPr>
        <p:spPr/>
        <p:txBody>
          <a:bodyPr/>
          <a:lstStyle/>
          <a:p>
            <a:fld id="{4FAB73BC-B049-4115-A692-8D63A059BFB8}" type="slidenum">
              <a:rPr lang="en-US" smtClean="0"/>
              <a:pPr/>
              <a:t>10</a:t>
            </a:fld>
            <a:endParaRPr lang="en-US" dirty="0"/>
          </a:p>
        </p:txBody>
      </p:sp>
      <p:sp>
        <p:nvSpPr>
          <p:cNvPr id="3" name="Slide Number Placeholder 1">
            <a:extLst>
              <a:ext uri="{FF2B5EF4-FFF2-40B4-BE49-F238E27FC236}">
                <a16:creationId xmlns:a16="http://schemas.microsoft.com/office/drawing/2014/main" id="{7D34C44A-D573-59F4-5D4D-21E07639CB59}"/>
              </a:ext>
            </a:extLst>
          </p:cNvPr>
          <p:cNvSpPr txBox="1">
            <a:spLocks/>
          </p:cNvSpPr>
          <p:nvPr/>
        </p:nvSpPr>
        <p:spPr>
          <a:xfrm>
            <a:off x="11880550" y="7751743"/>
            <a:ext cx="1574430" cy="438150"/>
          </a:xfrm>
          <a:prstGeom prst="rect">
            <a:avLst/>
          </a:prstGeom>
        </p:spPr>
        <p:txBody>
          <a:bodyPr vert="horz" lIns="91440" tIns="45720" rIns="91440" bIns="45720" rtlCol="0" anchor="ctr"/>
          <a:lstStyle>
            <a:defPPr>
              <a:defRPr lang="en-US"/>
            </a:defPPr>
            <a:lvl1pPr marL="0" algn="r" defTabSz="457200" rtl="0" eaLnBrk="1" latinLnBrk="0" hangingPunct="1">
              <a:defRPr sz="126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10</a:t>
            </a:fld>
            <a:endParaRPr lang="en-US" dirty="0"/>
          </a:p>
        </p:txBody>
      </p:sp>
      <p:sp>
        <p:nvSpPr>
          <p:cNvPr id="4" name="Slide Number Placeholder 1">
            <a:extLst>
              <a:ext uri="{FF2B5EF4-FFF2-40B4-BE49-F238E27FC236}">
                <a16:creationId xmlns:a16="http://schemas.microsoft.com/office/drawing/2014/main" id="{B5A7C9F1-6C15-191B-5E7B-A52C5524A54C}"/>
              </a:ext>
            </a:extLst>
          </p:cNvPr>
          <p:cNvSpPr txBox="1">
            <a:spLocks/>
          </p:cNvSpPr>
          <p:nvPr/>
        </p:nvSpPr>
        <p:spPr>
          <a:xfrm>
            <a:off x="11880550" y="7751743"/>
            <a:ext cx="1574430" cy="438150"/>
          </a:xfrm>
          <a:prstGeom prst="rect">
            <a:avLst/>
          </a:prstGeom>
        </p:spPr>
        <p:txBody>
          <a:bodyPr vert="horz" lIns="91440" tIns="45720" rIns="91440" bIns="45720" rtlCol="0" anchor="ctr"/>
          <a:lstStyle>
            <a:defPPr>
              <a:defRPr lang="en-US"/>
            </a:defPPr>
            <a:lvl1pPr marL="0" algn="r" defTabSz="457200" rtl="0" eaLnBrk="1" latinLnBrk="0" hangingPunct="1">
              <a:defRPr sz="126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10</a:t>
            </a:fld>
            <a:endParaRPr lang="en-US" dirty="0"/>
          </a:p>
        </p:txBody>
      </p:sp>
      <p:sp>
        <p:nvSpPr>
          <p:cNvPr id="5" name="Slide Number Placeholder 1">
            <a:extLst>
              <a:ext uri="{FF2B5EF4-FFF2-40B4-BE49-F238E27FC236}">
                <a16:creationId xmlns:a16="http://schemas.microsoft.com/office/drawing/2014/main" id="{38782ABB-C323-863D-8F21-25220B6237E0}"/>
              </a:ext>
            </a:extLst>
          </p:cNvPr>
          <p:cNvSpPr txBox="1">
            <a:spLocks/>
          </p:cNvSpPr>
          <p:nvPr/>
        </p:nvSpPr>
        <p:spPr>
          <a:xfrm>
            <a:off x="11880550" y="7751743"/>
            <a:ext cx="1574430" cy="438150"/>
          </a:xfrm>
          <a:prstGeom prst="rect">
            <a:avLst/>
          </a:prstGeom>
        </p:spPr>
        <p:txBody>
          <a:bodyPr vert="horz" lIns="91440" tIns="45720" rIns="91440" bIns="45720" rtlCol="0" anchor="ctr"/>
          <a:lstStyle>
            <a:defPPr>
              <a:defRPr lang="en-US"/>
            </a:defPPr>
            <a:lvl1pPr marL="0" algn="r" defTabSz="457200" rtl="0" eaLnBrk="1" latinLnBrk="0" hangingPunct="1">
              <a:defRPr sz="126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10</a:t>
            </a:fld>
            <a:endParaRPr lang="en-US" dirty="0"/>
          </a:p>
        </p:txBody>
      </p:sp>
      <p:sp>
        <p:nvSpPr>
          <p:cNvPr id="6" name="Slide Number Placeholder 1">
            <a:extLst>
              <a:ext uri="{FF2B5EF4-FFF2-40B4-BE49-F238E27FC236}">
                <a16:creationId xmlns:a16="http://schemas.microsoft.com/office/drawing/2014/main" id="{D0310522-0DFC-770A-B47B-73E6DB56E720}"/>
              </a:ext>
            </a:extLst>
          </p:cNvPr>
          <p:cNvSpPr txBox="1">
            <a:spLocks/>
          </p:cNvSpPr>
          <p:nvPr/>
        </p:nvSpPr>
        <p:spPr>
          <a:xfrm>
            <a:off x="11880550" y="7740592"/>
            <a:ext cx="1574430" cy="438150"/>
          </a:xfrm>
          <a:prstGeom prst="rect">
            <a:avLst/>
          </a:prstGeom>
        </p:spPr>
        <p:txBody>
          <a:bodyPr vert="horz" lIns="91440" tIns="45720" rIns="91440" bIns="45720" rtlCol="0" anchor="ctr"/>
          <a:lstStyle>
            <a:defPPr>
              <a:defRPr lang="en-US"/>
            </a:defPPr>
            <a:lvl1pPr marL="0" algn="r" defTabSz="457200" rtl="0" eaLnBrk="1" latinLnBrk="0" hangingPunct="1">
              <a:defRPr sz="126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10</a:t>
            </a:fld>
            <a:endParaRPr lang="en-US" dirty="0"/>
          </a:p>
        </p:txBody>
      </p:sp>
      <p:sp>
        <p:nvSpPr>
          <p:cNvPr id="36" name="Text 0">
            <a:extLst>
              <a:ext uri="{FF2B5EF4-FFF2-40B4-BE49-F238E27FC236}">
                <a16:creationId xmlns:a16="http://schemas.microsoft.com/office/drawing/2014/main" id="{DCC085C7-F7EF-EE38-03B0-BC956DB75F86}"/>
              </a:ext>
            </a:extLst>
          </p:cNvPr>
          <p:cNvSpPr/>
          <p:nvPr/>
        </p:nvSpPr>
        <p:spPr>
          <a:xfrm>
            <a:off x="859869" y="666315"/>
            <a:ext cx="9443858" cy="558403"/>
          </a:xfrm>
          <a:prstGeom prst="rect">
            <a:avLst/>
          </a:prstGeom>
          <a:noFill/>
          <a:ln/>
        </p:spPr>
        <p:txBody>
          <a:bodyPr wrap="none" lIns="0" tIns="0" rIns="0" bIns="0" rtlCol="0" anchor="t"/>
          <a:lstStyle/>
          <a:p>
            <a:pPr marL="0" indent="0" algn="l">
              <a:lnSpc>
                <a:spcPts val="4350"/>
              </a:lnSpc>
              <a:buNone/>
            </a:pPr>
            <a:r>
              <a:rPr lang="en-US" sz="4400" kern="0" spc="-35" dirty="0">
                <a:solidFill>
                  <a:srgbClr val="000000"/>
                </a:solidFill>
                <a:latin typeface="PT Serif" panose="020A0603040505020204" pitchFamily="18" charset="0"/>
                <a:ea typeface="Montserrat Bold" pitchFamily="34" charset="-122"/>
                <a:cs typeface="Montserrat Bold" pitchFamily="34" charset="-120"/>
              </a:rPr>
              <a:t>Strategic Assessment: SWOT Analysis</a:t>
            </a:r>
            <a:endParaRPr lang="en-US" sz="4400" dirty="0">
              <a:latin typeface="PT Serif" panose="020A0603040505020204" pitchFamily="18" charset="0"/>
            </a:endParaRPr>
          </a:p>
        </p:txBody>
      </p:sp>
      <p:sp>
        <p:nvSpPr>
          <p:cNvPr id="37" name="Text 1">
            <a:extLst>
              <a:ext uri="{FF2B5EF4-FFF2-40B4-BE49-F238E27FC236}">
                <a16:creationId xmlns:a16="http://schemas.microsoft.com/office/drawing/2014/main" id="{EFBB4595-8C32-B3BA-7662-619FC3DC1EA3}"/>
              </a:ext>
            </a:extLst>
          </p:cNvPr>
          <p:cNvSpPr/>
          <p:nvPr/>
        </p:nvSpPr>
        <p:spPr>
          <a:xfrm>
            <a:off x="2979420" y="1617743"/>
            <a:ext cx="2233493" cy="279202"/>
          </a:xfrm>
          <a:prstGeom prst="rect">
            <a:avLst/>
          </a:prstGeom>
          <a:noFill/>
          <a:ln/>
        </p:spPr>
        <p:txBody>
          <a:bodyPr wrap="none" lIns="0" tIns="0" rIns="0" bIns="0" rtlCol="0" anchor="t"/>
          <a:lstStyle/>
          <a:p>
            <a:pPr marL="0" indent="0" algn="ctr">
              <a:lnSpc>
                <a:spcPts val="2150"/>
              </a:lnSpc>
              <a:buNone/>
            </a:pPr>
            <a:r>
              <a:rPr lang="en-US" sz="1750" b="1" kern="0" spc="-18" dirty="0">
                <a:solidFill>
                  <a:srgbClr val="3D3838"/>
                </a:solidFill>
                <a:latin typeface="Montserrat Bold" pitchFamily="34" charset="0"/>
                <a:ea typeface="Montserrat Bold" pitchFamily="34" charset="-122"/>
                <a:cs typeface="Montserrat Bold" pitchFamily="34" charset="-120"/>
              </a:rPr>
              <a:t>Strengths</a:t>
            </a:r>
            <a:endParaRPr lang="en-US" sz="1750" dirty="0"/>
          </a:p>
        </p:txBody>
      </p:sp>
      <p:sp>
        <p:nvSpPr>
          <p:cNvPr id="38" name="Text 2">
            <a:extLst>
              <a:ext uri="{FF2B5EF4-FFF2-40B4-BE49-F238E27FC236}">
                <a16:creationId xmlns:a16="http://schemas.microsoft.com/office/drawing/2014/main" id="{3C22DEBF-9813-ADCC-C293-02997EB0C37D}"/>
              </a:ext>
            </a:extLst>
          </p:cNvPr>
          <p:cNvSpPr/>
          <p:nvPr/>
        </p:nvSpPr>
        <p:spPr>
          <a:xfrm>
            <a:off x="859869" y="2061727"/>
            <a:ext cx="4353044" cy="674490"/>
          </a:xfrm>
          <a:prstGeom prst="rect">
            <a:avLst/>
          </a:prstGeom>
          <a:noFill/>
          <a:ln/>
        </p:spPr>
        <p:txBody>
          <a:bodyPr wrap="squar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Established presence in Firozabad's bangle market</a:t>
            </a:r>
            <a:endParaRPr lang="en-US" sz="1500" dirty="0"/>
          </a:p>
        </p:txBody>
      </p:sp>
      <p:sp>
        <p:nvSpPr>
          <p:cNvPr id="39" name="Text 3">
            <a:extLst>
              <a:ext uri="{FF2B5EF4-FFF2-40B4-BE49-F238E27FC236}">
                <a16:creationId xmlns:a16="http://schemas.microsoft.com/office/drawing/2014/main" id="{1F3A419A-6CDC-9343-9D44-027D09D02548}"/>
              </a:ext>
            </a:extLst>
          </p:cNvPr>
          <p:cNvSpPr/>
          <p:nvPr/>
        </p:nvSpPr>
        <p:spPr>
          <a:xfrm>
            <a:off x="859869" y="2673113"/>
            <a:ext cx="4353044" cy="589598"/>
          </a:xfrm>
          <a:prstGeom prst="rect">
            <a:avLst/>
          </a:prstGeom>
          <a:noFill/>
          <a:ln/>
        </p:spPr>
        <p:txBody>
          <a:bodyPr wrap="squar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Strong seasonal demand and sales growth (↑120% from June–Dec)</a:t>
            </a:r>
            <a:endParaRPr lang="en-US" sz="1500" dirty="0"/>
          </a:p>
        </p:txBody>
      </p:sp>
      <p:sp>
        <p:nvSpPr>
          <p:cNvPr id="40" name="Text 4">
            <a:extLst>
              <a:ext uri="{FF2B5EF4-FFF2-40B4-BE49-F238E27FC236}">
                <a16:creationId xmlns:a16="http://schemas.microsoft.com/office/drawing/2014/main" id="{820B17C0-C288-8422-EF69-7CD19D4A1427}"/>
              </a:ext>
            </a:extLst>
          </p:cNvPr>
          <p:cNvSpPr/>
          <p:nvPr/>
        </p:nvSpPr>
        <p:spPr>
          <a:xfrm>
            <a:off x="859869" y="3331410"/>
            <a:ext cx="4353044" cy="541532"/>
          </a:xfrm>
          <a:prstGeom prst="rect">
            <a:avLst/>
          </a:prstGeom>
          <a:noFill/>
          <a:ln/>
        </p:spPr>
        <p:txBody>
          <a:bodyPr wrap="non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High-performing designs ( AL = 44% of sales) </a:t>
            </a:r>
          </a:p>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And </a:t>
            </a:r>
            <a:r>
              <a:rPr lang="en-US" sz="1500" dirty="0">
                <a:solidFill>
                  <a:srgbClr val="3D3838"/>
                </a:solidFill>
                <a:latin typeface="Source Sans Pro" pitchFamily="34" charset="0"/>
                <a:ea typeface="Source Sans Pro" pitchFamily="34" charset="-122"/>
              </a:rPr>
              <a:t>reliable Supplier like Super Glass</a:t>
            </a:r>
            <a:endParaRPr lang="en-US" sz="1500" dirty="0"/>
          </a:p>
        </p:txBody>
      </p:sp>
      <p:sp>
        <p:nvSpPr>
          <p:cNvPr id="41" name="Text 5">
            <a:extLst>
              <a:ext uri="{FF2B5EF4-FFF2-40B4-BE49-F238E27FC236}">
                <a16:creationId xmlns:a16="http://schemas.microsoft.com/office/drawing/2014/main" id="{D0823B50-3540-B68C-D68E-205730E1A454}"/>
              </a:ext>
            </a:extLst>
          </p:cNvPr>
          <p:cNvSpPr/>
          <p:nvPr/>
        </p:nvSpPr>
        <p:spPr>
          <a:xfrm>
            <a:off x="859869" y="3872942"/>
            <a:ext cx="4353044" cy="589598"/>
          </a:xfrm>
          <a:prstGeom prst="rect">
            <a:avLst/>
          </a:prstGeom>
          <a:noFill/>
          <a:ln/>
        </p:spPr>
        <p:txBody>
          <a:bodyPr wrap="squar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Loyal customer base like Durga (100% compliance, credit score of 6)</a:t>
            </a:r>
            <a:endParaRPr lang="en-US" sz="1500" dirty="0"/>
          </a:p>
        </p:txBody>
      </p:sp>
      <p:sp>
        <p:nvSpPr>
          <p:cNvPr id="44" name="Text 6">
            <a:extLst>
              <a:ext uri="{FF2B5EF4-FFF2-40B4-BE49-F238E27FC236}">
                <a16:creationId xmlns:a16="http://schemas.microsoft.com/office/drawing/2014/main" id="{189FCC94-2389-12CB-073D-4210317E8324}"/>
              </a:ext>
            </a:extLst>
          </p:cNvPr>
          <p:cNvSpPr/>
          <p:nvPr/>
        </p:nvSpPr>
        <p:spPr>
          <a:xfrm>
            <a:off x="9417487" y="1912542"/>
            <a:ext cx="2233493" cy="279202"/>
          </a:xfrm>
          <a:prstGeom prst="rect">
            <a:avLst/>
          </a:prstGeom>
          <a:noFill/>
          <a:ln/>
        </p:spPr>
        <p:txBody>
          <a:bodyPr wrap="none" lIns="0" tIns="0" rIns="0" bIns="0" rtlCol="0" anchor="t"/>
          <a:lstStyle/>
          <a:p>
            <a:pPr marL="0" indent="0" algn="l">
              <a:lnSpc>
                <a:spcPts val="2150"/>
              </a:lnSpc>
              <a:buNone/>
            </a:pPr>
            <a:r>
              <a:rPr lang="en-US" sz="1750" b="1" kern="0" spc="-18" dirty="0">
                <a:solidFill>
                  <a:srgbClr val="3D3838"/>
                </a:solidFill>
                <a:latin typeface="Montserrat Bold" pitchFamily="34" charset="0"/>
                <a:ea typeface="Montserrat Bold" pitchFamily="34" charset="-122"/>
                <a:cs typeface="Montserrat Bold" pitchFamily="34" charset="-120"/>
              </a:rPr>
              <a:t>Weaknesses</a:t>
            </a:r>
            <a:endParaRPr lang="en-US" sz="1750" dirty="0"/>
          </a:p>
        </p:txBody>
      </p:sp>
      <p:sp>
        <p:nvSpPr>
          <p:cNvPr id="45" name="Text 7">
            <a:extLst>
              <a:ext uri="{FF2B5EF4-FFF2-40B4-BE49-F238E27FC236}">
                <a16:creationId xmlns:a16="http://schemas.microsoft.com/office/drawing/2014/main" id="{9474AC37-EB1B-E778-85F0-CCC068E61A3F}"/>
              </a:ext>
            </a:extLst>
          </p:cNvPr>
          <p:cNvSpPr/>
          <p:nvPr/>
        </p:nvSpPr>
        <p:spPr>
          <a:xfrm>
            <a:off x="9417487" y="2309615"/>
            <a:ext cx="4353044" cy="294799"/>
          </a:xfrm>
          <a:prstGeom prst="rect">
            <a:avLst/>
          </a:prstGeom>
          <a:noFill/>
          <a:ln/>
        </p:spPr>
        <p:txBody>
          <a:bodyPr wrap="non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Manual recordkeeping → delays in analysis</a:t>
            </a:r>
            <a:endParaRPr lang="en-US" sz="1500" dirty="0"/>
          </a:p>
        </p:txBody>
      </p:sp>
      <p:sp>
        <p:nvSpPr>
          <p:cNvPr id="46" name="Text 8">
            <a:extLst>
              <a:ext uri="{FF2B5EF4-FFF2-40B4-BE49-F238E27FC236}">
                <a16:creationId xmlns:a16="http://schemas.microsoft.com/office/drawing/2014/main" id="{45BAFCCA-07F4-54F8-7EB0-5B0E5CFC922F}"/>
              </a:ext>
            </a:extLst>
          </p:cNvPr>
          <p:cNvSpPr/>
          <p:nvPr/>
        </p:nvSpPr>
        <p:spPr>
          <a:xfrm>
            <a:off x="9417487" y="2673113"/>
            <a:ext cx="4353044" cy="589598"/>
          </a:xfrm>
          <a:prstGeom prst="rect">
            <a:avLst/>
          </a:prstGeom>
          <a:noFill/>
          <a:ln/>
        </p:spPr>
        <p:txBody>
          <a:bodyPr wrap="squar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Overstocking of low-demand designs (e.g., ML overstocked by 1950 units)</a:t>
            </a:r>
            <a:endParaRPr lang="en-US" sz="1500" dirty="0"/>
          </a:p>
        </p:txBody>
      </p:sp>
      <p:sp>
        <p:nvSpPr>
          <p:cNvPr id="47" name="Text 9">
            <a:extLst>
              <a:ext uri="{FF2B5EF4-FFF2-40B4-BE49-F238E27FC236}">
                <a16:creationId xmlns:a16="http://schemas.microsoft.com/office/drawing/2014/main" id="{595B8D24-1A57-4514-DD1D-D07B74E43F44}"/>
              </a:ext>
            </a:extLst>
          </p:cNvPr>
          <p:cNvSpPr/>
          <p:nvPr/>
        </p:nvSpPr>
        <p:spPr>
          <a:xfrm>
            <a:off x="9417487" y="3331410"/>
            <a:ext cx="4353044" cy="294799"/>
          </a:xfrm>
          <a:prstGeom prst="rect">
            <a:avLst/>
          </a:prstGeom>
          <a:noFill/>
          <a:ln/>
        </p:spPr>
        <p:txBody>
          <a:bodyPr wrap="non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Credit risk: ₹2.56L overdue (Shariq, Owais)</a:t>
            </a:r>
            <a:endParaRPr lang="en-US" sz="1500" dirty="0"/>
          </a:p>
        </p:txBody>
      </p:sp>
      <p:sp>
        <p:nvSpPr>
          <p:cNvPr id="48" name="Text 10">
            <a:extLst>
              <a:ext uri="{FF2B5EF4-FFF2-40B4-BE49-F238E27FC236}">
                <a16:creationId xmlns:a16="http://schemas.microsoft.com/office/drawing/2014/main" id="{A96AFC81-19AF-B7B4-E1B9-90C510F50C96}"/>
              </a:ext>
            </a:extLst>
          </p:cNvPr>
          <p:cNvSpPr/>
          <p:nvPr/>
        </p:nvSpPr>
        <p:spPr>
          <a:xfrm>
            <a:off x="9417487" y="3694907"/>
            <a:ext cx="4353044" cy="294799"/>
          </a:xfrm>
          <a:prstGeom prst="rect">
            <a:avLst/>
          </a:prstGeom>
          <a:noFill/>
          <a:ln/>
        </p:spPr>
        <p:txBody>
          <a:bodyPr wrap="non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Dependency on one major supplier (NavJivan)</a:t>
            </a:r>
            <a:endParaRPr lang="en-US" sz="1500" dirty="0"/>
          </a:p>
        </p:txBody>
      </p:sp>
      <p:sp>
        <p:nvSpPr>
          <p:cNvPr id="58" name="Text 16">
            <a:extLst>
              <a:ext uri="{FF2B5EF4-FFF2-40B4-BE49-F238E27FC236}">
                <a16:creationId xmlns:a16="http://schemas.microsoft.com/office/drawing/2014/main" id="{6CD685BF-8E32-B9D7-9E31-C1823C8445AA}"/>
              </a:ext>
            </a:extLst>
          </p:cNvPr>
          <p:cNvSpPr/>
          <p:nvPr/>
        </p:nvSpPr>
        <p:spPr>
          <a:xfrm>
            <a:off x="2979420" y="4726703"/>
            <a:ext cx="2233493" cy="279202"/>
          </a:xfrm>
          <a:prstGeom prst="rect">
            <a:avLst/>
          </a:prstGeom>
          <a:noFill/>
          <a:ln/>
        </p:spPr>
        <p:txBody>
          <a:bodyPr wrap="none" lIns="0" tIns="0" rIns="0" bIns="0" rtlCol="0" anchor="t"/>
          <a:lstStyle/>
          <a:p>
            <a:pPr marL="0" indent="0" algn="ctr">
              <a:lnSpc>
                <a:spcPts val="2150"/>
              </a:lnSpc>
              <a:buNone/>
            </a:pPr>
            <a:r>
              <a:rPr lang="en-US" sz="1750" b="1" kern="0" spc="-18" dirty="0">
                <a:solidFill>
                  <a:srgbClr val="3D3838"/>
                </a:solidFill>
                <a:latin typeface="Montserrat Bold" pitchFamily="34" charset="0"/>
                <a:ea typeface="Montserrat Bold" pitchFamily="34" charset="-122"/>
                <a:cs typeface="Montserrat Bold" pitchFamily="34" charset="-120"/>
              </a:rPr>
              <a:t>Threats</a:t>
            </a:r>
            <a:endParaRPr lang="en-US" sz="1750" dirty="0"/>
          </a:p>
        </p:txBody>
      </p:sp>
      <p:sp>
        <p:nvSpPr>
          <p:cNvPr id="59" name="Text 17">
            <a:extLst>
              <a:ext uri="{FF2B5EF4-FFF2-40B4-BE49-F238E27FC236}">
                <a16:creationId xmlns:a16="http://schemas.microsoft.com/office/drawing/2014/main" id="{74057C06-1605-2B2F-5E09-7D9E121A794A}"/>
              </a:ext>
            </a:extLst>
          </p:cNvPr>
          <p:cNvSpPr/>
          <p:nvPr/>
        </p:nvSpPr>
        <p:spPr>
          <a:xfrm>
            <a:off x="859869" y="5123777"/>
            <a:ext cx="4353044" cy="589598"/>
          </a:xfrm>
          <a:prstGeom prst="rect">
            <a:avLst/>
          </a:prstGeom>
          <a:noFill/>
          <a:ln/>
        </p:spPr>
        <p:txBody>
          <a:bodyPr wrap="squar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Payment delays can affect cash flow and reinvestment</a:t>
            </a:r>
            <a:endParaRPr lang="en-US" sz="1500" dirty="0"/>
          </a:p>
        </p:txBody>
      </p:sp>
      <p:sp>
        <p:nvSpPr>
          <p:cNvPr id="60" name="Text 18">
            <a:extLst>
              <a:ext uri="{FF2B5EF4-FFF2-40B4-BE49-F238E27FC236}">
                <a16:creationId xmlns:a16="http://schemas.microsoft.com/office/drawing/2014/main" id="{A38019FA-8106-45B9-A416-7EC780BA957C}"/>
              </a:ext>
            </a:extLst>
          </p:cNvPr>
          <p:cNvSpPr/>
          <p:nvPr/>
        </p:nvSpPr>
        <p:spPr>
          <a:xfrm>
            <a:off x="859869" y="5782073"/>
            <a:ext cx="4353044" cy="294799"/>
          </a:xfrm>
          <a:prstGeom prst="rect">
            <a:avLst/>
          </a:prstGeom>
          <a:noFill/>
          <a:ln/>
        </p:spPr>
        <p:txBody>
          <a:bodyPr wrap="non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Seasonal reliance → off-season revenue dips</a:t>
            </a:r>
            <a:endParaRPr lang="en-US" sz="1500" dirty="0"/>
          </a:p>
        </p:txBody>
      </p:sp>
      <p:sp>
        <p:nvSpPr>
          <p:cNvPr id="61" name="Text 19">
            <a:extLst>
              <a:ext uri="{FF2B5EF4-FFF2-40B4-BE49-F238E27FC236}">
                <a16:creationId xmlns:a16="http://schemas.microsoft.com/office/drawing/2014/main" id="{DD1F9823-17F9-7695-B290-82C070036961}"/>
              </a:ext>
            </a:extLst>
          </p:cNvPr>
          <p:cNvSpPr/>
          <p:nvPr/>
        </p:nvSpPr>
        <p:spPr>
          <a:xfrm>
            <a:off x="859869" y="6145571"/>
            <a:ext cx="4353044" cy="589598"/>
          </a:xfrm>
          <a:prstGeom prst="rect">
            <a:avLst/>
          </a:prstGeom>
          <a:noFill/>
          <a:ln/>
        </p:spPr>
        <p:txBody>
          <a:bodyPr wrap="squar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Supplier delays may cause stockouts during peak demand</a:t>
            </a:r>
            <a:endParaRPr lang="en-US" sz="1500" dirty="0"/>
          </a:p>
        </p:txBody>
      </p:sp>
      <p:sp>
        <p:nvSpPr>
          <p:cNvPr id="62" name="Text 20">
            <a:extLst>
              <a:ext uri="{FF2B5EF4-FFF2-40B4-BE49-F238E27FC236}">
                <a16:creationId xmlns:a16="http://schemas.microsoft.com/office/drawing/2014/main" id="{AC00BC87-9F08-255A-FAA7-945979BBC6BB}"/>
              </a:ext>
            </a:extLst>
          </p:cNvPr>
          <p:cNvSpPr/>
          <p:nvPr/>
        </p:nvSpPr>
        <p:spPr>
          <a:xfrm>
            <a:off x="859869" y="6803867"/>
            <a:ext cx="4353044" cy="589598"/>
          </a:xfrm>
          <a:prstGeom prst="rect">
            <a:avLst/>
          </a:prstGeom>
          <a:noFill/>
          <a:ln/>
        </p:spPr>
        <p:txBody>
          <a:bodyPr wrap="squar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Market competition from larger digitized wholesalers</a:t>
            </a:r>
            <a:endParaRPr lang="en-US" sz="1500" dirty="0"/>
          </a:p>
        </p:txBody>
      </p:sp>
      <p:sp>
        <p:nvSpPr>
          <p:cNvPr id="9" name="Text 11">
            <a:extLst>
              <a:ext uri="{FF2B5EF4-FFF2-40B4-BE49-F238E27FC236}">
                <a16:creationId xmlns:a16="http://schemas.microsoft.com/office/drawing/2014/main" id="{0F206664-27B4-D5AE-29F4-B35B54908137}"/>
              </a:ext>
            </a:extLst>
          </p:cNvPr>
          <p:cNvSpPr/>
          <p:nvPr/>
        </p:nvSpPr>
        <p:spPr>
          <a:xfrm>
            <a:off x="9417487" y="4536414"/>
            <a:ext cx="2233493" cy="279202"/>
          </a:xfrm>
          <a:prstGeom prst="rect">
            <a:avLst/>
          </a:prstGeom>
          <a:noFill/>
          <a:ln/>
        </p:spPr>
        <p:txBody>
          <a:bodyPr wrap="none" lIns="0" tIns="0" rIns="0" bIns="0" rtlCol="0" anchor="t"/>
          <a:lstStyle/>
          <a:p>
            <a:pPr marL="0" indent="0" algn="l">
              <a:lnSpc>
                <a:spcPts val="2150"/>
              </a:lnSpc>
              <a:buNone/>
            </a:pPr>
            <a:r>
              <a:rPr lang="en-US" sz="1750" b="1" kern="0" spc="-18" dirty="0">
                <a:solidFill>
                  <a:srgbClr val="3D3838"/>
                </a:solidFill>
                <a:latin typeface="Montserrat Bold" pitchFamily="34" charset="0"/>
                <a:ea typeface="Montserrat Bold" pitchFamily="34" charset="-122"/>
                <a:cs typeface="Montserrat Bold" pitchFamily="34" charset="-120"/>
              </a:rPr>
              <a:t>Opportunities</a:t>
            </a:r>
            <a:endParaRPr lang="en-US" sz="1750" dirty="0"/>
          </a:p>
        </p:txBody>
      </p:sp>
      <p:sp>
        <p:nvSpPr>
          <p:cNvPr id="10" name="Text 12">
            <a:extLst>
              <a:ext uri="{FF2B5EF4-FFF2-40B4-BE49-F238E27FC236}">
                <a16:creationId xmlns:a16="http://schemas.microsoft.com/office/drawing/2014/main" id="{A3FFAEF7-1A5D-A3CA-C571-26E60564DDA2}"/>
              </a:ext>
            </a:extLst>
          </p:cNvPr>
          <p:cNvSpPr/>
          <p:nvPr/>
        </p:nvSpPr>
        <p:spPr>
          <a:xfrm>
            <a:off x="9417487" y="4976377"/>
            <a:ext cx="4353044" cy="589598"/>
          </a:xfrm>
          <a:prstGeom prst="rect">
            <a:avLst/>
          </a:prstGeom>
          <a:noFill/>
          <a:ln/>
        </p:spPr>
        <p:txBody>
          <a:bodyPr wrap="squar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Digitization using Google Sheets/Tally for real-time monitoring</a:t>
            </a:r>
            <a:endParaRPr lang="en-US" sz="1500" dirty="0"/>
          </a:p>
        </p:txBody>
      </p:sp>
      <p:sp>
        <p:nvSpPr>
          <p:cNvPr id="11" name="Text 13">
            <a:extLst>
              <a:ext uri="{FF2B5EF4-FFF2-40B4-BE49-F238E27FC236}">
                <a16:creationId xmlns:a16="http://schemas.microsoft.com/office/drawing/2014/main" id="{70FA3D11-0115-0C96-DFED-A448B04238C3}"/>
              </a:ext>
            </a:extLst>
          </p:cNvPr>
          <p:cNvSpPr/>
          <p:nvPr/>
        </p:nvSpPr>
        <p:spPr>
          <a:xfrm>
            <a:off x="9417487" y="5634674"/>
            <a:ext cx="4353044" cy="589598"/>
          </a:xfrm>
          <a:prstGeom prst="rect">
            <a:avLst/>
          </a:prstGeom>
          <a:noFill/>
          <a:ln/>
        </p:spPr>
        <p:txBody>
          <a:bodyPr wrap="squar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Predictive inventory management using ARIMA forecasts</a:t>
            </a:r>
            <a:endParaRPr lang="en-US" sz="1500" dirty="0"/>
          </a:p>
        </p:txBody>
      </p:sp>
      <p:sp>
        <p:nvSpPr>
          <p:cNvPr id="12" name="Text 14">
            <a:extLst>
              <a:ext uri="{FF2B5EF4-FFF2-40B4-BE49-F238E27FC236}">
                <a16:creationId xmlns:a16="http://schemas.microsoft.com/office/drawing/2014/main" id="{F99FE501-E7F9-20E4-391F-E3D561363026}"/>
              </a:ext>
            </a:extLst>
          </p:cNvPr>
          <p:cNvSpPr/>
          <p:nvPr/>
        </p:nvSpPr>
        <p:spPr>
          <a:xfrm>
            <a:off x="9417487" y="6292970"/>
            <a:ext cx="4353044" cy="589598"/>
          </a:xfrm>
          <a:prstGeom prst="rect">
            <a:avLst/>
          </a:prstGeom>
          <a:noFill/>
          <a:ln/>
        </p:spPr>
        <p:txBody>
          <a:bodyPr wrap="squar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Implementing credit scoring system to reduce defaults</a:t>
            </a:r>
            <a:endParaRPr lang="en-US" sz="1500" dirty="0"/>
          </a:p>
        </p:txBody>
      </p:sp>
      <p:sp>
        <p:nvSpPr>
          <p:cNvPr id="13" name="Text 15">
            <a:extLst>
              <a:ext uri="{FF2B5EF4-FFF2-40B4-BE49-F238E27FC236}">
                <a16:creationId xmlns:a16="http://schemas.microsoft.com/office/drawing/2014/main" id="{4456C8C5-FB3B-7E2C-09A5-5F40D304D1FC}"/>
              </a:ext>
            </a:extLst>
          </p:cNvPr>
          <p:cNvSpPr/>
          <p:nvPr/>
        </p:nvSpPr>
        <p:spPr>
          <a:xfrm>
            <a:off x="9417487" y="6951267"/>
            <a:ext cx="4353044" cy="589598"/>
          </a:xfrm>
          <a:prstGeom prst="rect">
            <a:avLst/>
          </a:prstGeom>
          <a:noFill/>
          <a:ln/>
        </p:spPr>
        <p:txBody>
          <a:bodyPr wrap="square" lIns="0" tIns="0" rIns="0" bIns="0" rtlCol="0" anchor="t"/>
          <a:lstStyle/>
          <a:p>
            <a:pPr marL="342900" indent="-342900" algn="l">
              <a:lnSpc>
                <a:spcPts val="2300"/>
              </a:lnSpc>
              <a:buSzPct val="100000"/>
              <a:buChar char="•"/>
            </a:pPr>
            <a:r>
              <a:rPr lang="en-US" sz="1500" dirty="0">
                <a:solidFill>
                  <a:srgbClr val="3D3838"/>
                </a:solidFill>
                <a:latin typeface="Source Sans Pro" pitchFamily="34" charset="0"/>
                <a:ea typeface="Source Sans Pro" pitchFamily="34" charset="-122"/>
                <a:cs typeface="Source Sans Pro" pitchFamily="34" charset="-120"/>
              </a:rPr>
              <a:t>Expand supplier base with performance-based contracts</a:t>
            </a:r>
            <a:endParaRPr lang="en-US" sz="1500" dirty="0"/>
          </a:p>
        </p:txBody>
      </p:sp>
      <p:pic>
        <p:nvPicPr>
          <p:cNvPr id="15" name="Picture 14">
            <a:extLst>
              <a:ext uri="{FF2B5EF4-FFF2-40B4-BE49-F238E27FC236}">
                <a16:creationId xmlns:a16="http://schemas.microsoft.com/office/drawing/2014/main" id="{C476716C-4D04-6B6C-5905-BE3CCA0C42AE}"/>
              </a:ext>
            </a:extLst>
          </p:cNvPr>
          <p:cNvPicPr>
            <a:picLocks noChangeAspect="1"/>
          </p:cNvPicPr>
          <p:nvPr/>
        </p:nvPicPr>
        <p:blipFill>
          <a:blip r:embed="rId2"/>
          <a:stretch>
            <a:fillRect/>
          </a:stretch>
        </p:blipFill>
        <p:spPr>
          <a:xfrm>
            <a:off x="4678420" y="1742725"/>
            <a:ext cx="4255434" cy="4083844"/>
          </a:xfrm>
          <a:prstGeom prst="rect">
            <a:avLst/>
          </a:prstGeom>
        </p:spPr>
      </p:pic>
    </p:spTree>
    <p:extLst>
      <p:ext uri="{BB962C8B-B14F-4D97-AF65-F5344CB8AC3E}">
        <p14:creationId xmlns:p14="http://schemas.microsoft.com/office/powerpoint/2010/main" val="2364582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308692"/>
            <a:ext cx="3870246" cy="483751"/>
          </a:xfrm>
          <a:prstGeom prst="rect">
            <a:avLst/>
          </a:prstGeom>
          <a:noFill/>
          <a:ln/>
        </p:spPr>
        <p:txBody>
          <a:bodyPr wrap="none" lIns="0" tIns="0" rIns="0" bIns="0" rtlCol="0" anchor="t"/>
          <a:lstStyle/>
          <a:p>
            <a:pPr marL="0" indent="0" algn="l">
              <a:lnSpc>
                <a:spcPts val="3800"/>
              </a:lnSpc>
              <a:buNone/>
            </a:pPr>
            <a:r>
              <a:rPr lang="en-US" sz="4400" dirty="0">
                <a:solidFill>
                  <a:srgbClr val="020202"/>
                </a:solidFill>
                <a:latin typeface="PT Serif" pitchFamily="34" charset="0"/>
                <a:ea typeface="PT Serif" pitchFamily="34" charset="-122"/>
                <a:cs typeface="PT Serif" pitchFamily="34" charset="-120"/>
              </a:rPr>
              <a:t>Recommendations</a:t>
            </a:r>
            <a:endParaRPr lang="en-US" sz="4400" dirty="0"/>
          </a:p>
        </p:txBody>
      </p:sp>
      <p:sp>
        <p:nvSpPr>
          <p:cNvPr id="3" name="Text 1"/>
          <p:cNvSpPr/>
          <p:nvPr/>
        </p:nvSpPr>
        <p:spPr>
          <a:xfrm>
            <a:off x="793790" y="1069310"/>
            <a:ext cx="13042821" cy="771385"/>
          </a:xfrm>
          <a:prstGeom prst="rect">
            <a:avLst/>
          </a:prstGeom>
          <a:noFill/>
          <a:ln/>
        </p:spPr>
        <p:txBody>
          <a:bodyPr wrap="square" lIns="0" tIns="0" rIns="0" bIns="0" rtlCol="0" anchor="t"/>
          <a:lstStyle/>
          <a:p>
            <a:pPr marL="285750" indent="-285750" algn="l">
              <a:lnSpc>
                <a:spcPts val="1850"/>
              </a:lnSpc>
              <a:buFont typeface="Arial" panose="020B0604020202020204" pitchFamily="34" charset="0"/>
              <a:buChar char="•"/>
            </a:pPr>
            <a:r>
              <a:rPr lang="en-US" sz="1400" dirty="0">
                <a:solidFill>
                  <a:srgbClr val="383838"/>
                </a:solidFill>
                <a:latin typeface="DM Sans" pitchFamily="34" charset="0"/>
                <a:ea typeface="DM Sans" pitchFamily="34" charset="-122"/>
                <a:cs typeface="DM Sans" pitchFamily="34" charset="-120"/>
              </a:rPr>
              <a:t>Based on the data analysis, I recommend implementing a strategic inventory management system that prioritizes AL and DL design stock, especially before festive seasons when demand peaks. This approach will minimize stockouts of high-value products and maximize revenue potential during critical sales periods.</a:t>
            </a:r>
            <a:endParaRPr lang="en-US" sz="1400" dirty="0"/>
          </a:p>
        </p:txBody>
      </p:sp>
      <p:sp>
        <p:nvSpPr>
          <p:cNvPr id="4" name="Text 2"/>
          <p:cNvSpPr/>
          <p:nvPr/>
        </p:nvSpPr>
        <p:spPr>
          <a:xfrm>
            <a:off x="793790" y="2000001"/>
            <a:ext cx="13042821" cy="471488"/>
          </a:xfrm>
          <a:prstGeom prst="rect">
            <a:avLst/>
          </a:prstGeom>
          <a:noFill/>
          <a:ln/>
        </p:spPr>
        <p:txBody>
          <a:bodyPr wrap="square" lIns="0" tIns="0" rIns="0" bIns="0" rtlCol="0" anchor="t"/>
          <a:lstStyle/>
          <a:p>
            <a:pPr marL="285750" indent="-285750" algn="l">
              <a:lnSpc>
                <a:spcPts val="1850"/>
              </a:lnSpc>
              <a:buFont typeface="Arial" panose="020B0604020202020204" pitchFamily="34" charset="0"/>
              <a:buChar char="•"/>
            </a:pPr>
            <a:r>
              <a:rPr lang="en-US" sz="1400" dirty="0">
                <a:solidFill>
                  <a:srgbClr val="383838"/>
                </a:solidFill>
                <a:latin typeface="DM Sans" pitchFamily="34" charset="0"/>
                <a:ea typeface="DM Sans" pitchFamily="34" charset="-122"/>
                <a:cs typeface="DM Sans" pitchFamily="34" charset="-120"/>
              </a:rPr>
              <a:t>For credit management, I advise enforcing stricter payment terms, particularly for high-risk customers like Shariq and Owais. This should include reduced credit limits, shorter payment windows, and potential cash-only requirements for customers with persistent payment issues.</a:t>
            </a:r>
            <a:endParaRPr lang="en-US" sz="1400" dirty="0"/>
          </a:p>
        </p:txBody>
      </p:sp>
      <p:sp>
        <p:nvSpPr>
          <p:cNvPr id="5" name="Text 3"/>
          <p:cNvSpPr/>
          <p:nvPr/>
        </p:nvSpPr>
        <p:spPr>
          <a:xfrm>
            <a:off x="793788" y="2720849"/>
            <a:ext cx="13042821" cy="471488"/>
          </a:xfrm>
          <a:prstGeom prst="rect">
            <a:avLst/>
          </a:prstGeom>
          <a:noFill/>
          <a:ln/>
        </p:spPr>
        <p:txBody>
          <a:bodyPr wrap="square" lIns="0" tIns="0" rIns="0" bIns="0" rtlCol="0" anchor="t"/>
          <a:lstStyle/>
          <a:p>
            <a:pPr marL="285750" indent="-285750" algn="l">
              <a:lnSpc>
                <a:spcPts val="1850"/>
              </a:lnSpc>
              <a:buFont typeface="Arial" panose="020B0604020202020204" pitchFamily="34" charset="0"/>
              <a:buChar char="•"/>
            </a:pPr>
            <a:r>
              <a:rPr lang="en-US" sz="1400" dirty="0">
                <a:solidFill>
                  <a:srgbClr val="383838"/>
                </a:solidFill>
                <a:latin typeface="DM Sans" pitchFamily="34" charset="0"/>
                <a:ea typeface="DM Sans" pitchFamily="34" charset="-122"/>
                <a:cs typeface="DM Sans" pitchFamily="34" charset="-120"/>
              </a:rPr>
              <a:t>I also recommend diversifying the supplier base while developing incentive programs for timely delivery and quality consistency.</a:t>
            </a:r>
          </a:p>
          <a:p>
            <a:pPr marL="285750" indent="-285750" algn="l">
              <a:lnSpc>
                <a:spcPts val="1850"/>
              </a:lnSpc>
              <a:buFont typeface="Arial" panose="020B0604020202020204" pitchFamily="34" charset="0"/>
              <a:buChar char="•"/>
            </a:pPr>
            <a:endParaRPr lang="en-US" sz="1400" dirty="0">
              <a:solidFill>
                <a:srgbClr val="383838"/>
              </a:solidFill>
              <a:latin typeface="DM Sans" pitchFamily="34" charset="0"/>
              <a:ea typeface="DM Sans" pitchFamily="34" charset="-122"/>
              <a:cs typeface="DM Sans" pitchFamily="34" charset="-120"/>
            </a:endParaRPr>
          </a:p>
          <a:p>
            <a:pPr marL="285750" indent="-285750" algn="l">
              <a:lnSpc>
                <a:spcPts val="1850"/>
              </a:lnSpc>
              <a:buFont typeface="Arial" panose="020B0604020202020204" pitchFamily="34" charset="0"/>
              <a:buChar char="•"/>
            </a:pPr>
            <a:r>
              <a:rPr lang="en-US" sz="1400" dirty="0">
                <a:solidFill>
                  <a:srgbClr val="383838"/>
                </a:solidFill>
                <a:latin typeface="DM Sans" pitchFamily="34" charset="0"/>
                <a:ea typeface="DM Sans" pitchFamily="34" charset="-122"/>
                <a:cs typeface="DM Sans" pitchFamily="34" charset="-120"/>
              </a:rPr>
              <a:t> Finally, digitizing business records using affordable solutions like Zoho or Google Sheets POS will improve data accuracy and enable real-time decision making.</a:t>
            </a:r>
            <a:endParaRPr lang="en-US" sz="1400" dirty="0"/>
          </a:p>
        </p:txBody>
      </p:sp>
      <p:pic>
        <p:nvPicPr>
          <p:cNvPr id="6" name="Image 0" descr="preencoded.png"/>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Layer>
                </a14:imgProps>
              </a:ext>
            </a:extLst>
          </a:blip>
          <a:stretch>
            <a:fillRect/>
          </a:stretch>
        </p:blipFill>
        <p:spPr>
          <a:xfrm>
            <a:off x="793790" y="3691057"/>
            <a:ext cx="737116" cy="884515"/>
          </a:xfrm>
          <a:prstGeom prst="rect">
            <a:avLst/>
          </a:prstGeom>
        </p:spPr>
      </p:pic>
      <p:sp>
        <p:nvSpPr>
          <p:cNvPr id="7" name="Text 4"/>
          <p:cNvSpPr/>
          <p:nvPr/>
        </p:nvSpPr>
        <p:spPr>
          <a:xfrm>
            <a:off x="1752005" y="3838456"/>
            <a:ext cx="1935123" cy="241816"/>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T Serif" pitchFamily="34" charset="0"/>
                <a:ea typeface="PT Serif" pitchFamily="34" charset="-122"/>
                <a:cs typeface="PT Serif" pitchFamily="34" charset="-120"/>
              </a:rPr>
              <a:t>Optimize Inventory</a:t>
            </a:r>
            <a:endParaRPr lang="en-US" sz="1500" dirty="0"/>
          </a:p>
        </p:txBody>
      </p:sp>
      <p:sp>
        <p:nvSpPr>
          <p:cNvPr id="8" name="Text 5"/>
          <p:cNvSpPr/>
          <p:nvPr/>
        </p:nvSpPr>
        <p:spPr>
          <a:xfrm>
            <a:off x="1752005" y="4168616"/>
            <a:ext cx="12084606" cy="235744"/>
          </a:xfrm>
          <a:prstGeom prst="rect">
            <a:avLst/>
          </a:prstGeom>
          <a:noFill/>
          <a:ln/>
        </p:spPr>
        <p:txBody>
          <a:bodyPr wrap="none" lIns="0" tIns="0" rIns="0" bIns="0" rtlCol="0" anchor="t"/>
          <a:lstStyle/>
          <a:p>
            <a:pPr marL="0" indent="0" algn="l">
              <a:lnSpc>
                <a:spcPts val="1850"/>
              </a:lnSpc>
              <a:buNone/>
            </a:pPr>
            <a:r>
              <a:rPr lang="en-US" sz="1200" dirty="0">
                <a:solidFill>
                  <a:srgbClr val="383838"/>
                </a:solidFill>
                <a:latin typeface="DM Sans" pitchFamily="34" charset="0"/>
                <a:ea typeface="DM Sans" pitchFamily="34" charset="-122"/>
                <a:cs typeface="DM Sans" pitchFamily="34" charset="-120"/>
              </a:rPr>
              <a:t>Prioritize AL/DL stock before festive seasons to prevent stockouts of high-demand items</a:t>
            </a:r>
            <a:endParaRPr lang="en-US" sz="1200" dirty="0"/>
          </a:p>
        </p:txBody>
      </p:sp>
      <p:pic>
        <p:nvPicPr>
          <p:cNvPr id="9" name="Image 1" descr="preencoded.png"/>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793790" y="4575572"/>
            <a:ext cx="737116" cy="884515"/>
          </a:xfrm>
          <a:prstGeom prst="rect">
            <a:avLst/>
          </a:prstGeom>
        </p:spPr>
      </p:pic>
      <p:sp>
        <p:nvSpPr>
          <p:cNvPr id="10" name="Text 6"/>
          <p:cNvSpPr/>
          <p:nvPr/>
        </p:nvSpPr>
        <p:spPr>
          <a:xfrm>
            <a:off x="1752005" y="4722971"/>
            <a:ext cx="2715578" cy="241816"/>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T Serif" pitchFamily="34" charset="0"/>
                <a:ea typeface="PT Serif" pitchFamily="34" charset="-122"/>
                <a:cs typeface="PT Serif" pitchFamily="34" charset="-120"/>
              </a:rPr>
              <a:t>Strengthen Credit Management</a:t>
            </a:r>
            <a:endParaRPr lang="en-US" sz="1500" dirty="0"/>
          </a:p>
        </p:txBody>
      </p:sp>
      <p:sp>
        <p:nvSpPr>
          <p:cNvPr id="11" name="Text 7"/>
          <p:cNvSpPr/>
          <p:nvPr/>
        </p:nvSpPr>
        <p:spPr>
          <a:xfrm>
            <a:off x="1752005" y="5053132"/>
            <a:ext cx="12084606" cy="235744"/>
          </a:xfrm>
          <a:prstGeom prst="rect">
            <a:avLst/>
          </a:prstGeom>
          <a:noFill/>
          <a:ln/>
        </p:spPr>
        <p:txBody>
          <a:bodyPr wrap="none" lIns="0" tIns="0" rIns="0" bIns="0" rtlCol="0" anchor="t"/>
          <a:lstStyle/>
          <a:p>
            <a:pPr marL="0" indent="0" algn="l">
              <a:lnSpc>
                <a:spcPts val="1850"/>
              </a:lnSpc>
              <a:buNone/>
            </a:pPr>
            <a:r>
              <a:rPr lang="en-US" sz="1200" dirty="0">
                <a:solidFill>
                  <a:srgbClr val="383838"/>
                </a:solidFill>
                <a:latin typeface="DM Sans" pitchFamily="34" charset="0"/>
                <a:ea typeface="DM Sans" pitchFamily="34" charset="-122"/>
                <a:cs typeface="DM Sans" pitchFamily="34" charset="-120"/>
              </a:rPr>
              <a:t>Implement stricter credit terms for high-risk customers and monitor payment patterns</a:t>
            </a:r>
            <a:endParaRPr lang="en-US" sz="1200" dirty="0"/>
          </a:p>
        </p:txBody>
      </p:sp>
      <p:pic>
        <p:nvPicPr>
          <p:cNvPr id="12" name="Image 2" descr="preencoded.png"/>
          <p:cNvPicPr>
            <a:picLocks noChangeAspect="1"/>
          </p:cNvPicPr>
          <p:nvPr/>
        </p:nvPicPr>
        <p:blipFill>
          <a:blip r:embed="rId7">
            <a:extLst>
              <a:ext uri="{BEBA8EAE-BF5A-486C-A8C5-ECC9F3942E4B}">
                <a14:imgProps xmlns:a14="http://schemas.microsoft.com/office/drawing/2010/main">
                  <a14:imgLayer r:embed="rId8">
                    <a14:imgEffect>
                      <a14:colorTemperature colorTemp="4700"/>
                    </a14:imgEffect>
                  </a14:imgLayer>
                </a14:imgProps>
              </a:ext>
            </a:extLst>
          </a:blip>
          <a:stretch>
            <a:fillRect/>
          </a:stretch>
        </p:blipFill>
        <p:spPr>
          <a:xfrm>
            <a:off x="793790" y="5460087"/>
            <a:ext cx="737116" cy="884515"/>
          </a:xfrm>
          <a:prstGeom prst="rect">
            <a:avLst/>
          </a:prstGeom>
        </p:spPr>
      </p:pic>
      <p:sp>
        <p:nvSpPr>
          <p:cNvPr id="13" name="Text 8"/>
          <p:cNvSpPr/>
          <p:nvPr/>
        </p:nvSpPr>
        <p:spPr>
          <a:xfrm>
            <a:off x="1752005" y="5607487"/>
            <a:ext cx="2360771" cy="241816"/>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T Serif" pitchFamily="34" charset="0"/>
                <a:ea typeface="PT Serif" pitchFamily="34" charset="-122"/>
                <a:cs typeface="PT Serif" pitchFamily="34" charset="-120"/>
              </a:rPr>
              <a:t>Enhance Supplier Relations</a:t>
            </a:r>
            <a:endParaRPr lang="en-US" sz="1500" dirty="0"/>
          </a:p>
        </p:txBody>
      </p:sp>
      <p:sp>
        <p:nvSpPr>
          <p:cNvPr id="14" name="Text 9"/>
          <p:cNvSpPr/>
          <p:nvPr/>
        </p:nvSpPr>
        <p:spPr>
          <a:xfrm>
            <a:off x="1752005" y="5937647"/>
            <a:ext cx="12084606" cy="235744"/>
          </a:xfrm>
          <a:prstGeom prst="rect">
            <a:avLst/>
          </a:prstGeom>
          <a:noFill/>
          <a:ln/>
        </p:spPr>
        <p:txBody>
          <a:bodyPr wrap="none" lIns="0" tIns="0" rIns="0" bIns="0" rtlCol="0" anchor="t"/>
          <a:lstStyle/>
          <a:p>
            <a:pPr marL="0" indent="0" algn="l">
              <a:lnSpc>
                <a:spcPts val="1850"/>
              </a:lnSpc>
              <a:buNone/>
            </a:pPr>
            <a:r>
              <a:rPr lang="en-US" sz="1200" dirty="0">
                <a:solidFill>
                  <a:srgbClr val="383838"/>
                </a:solidFill>
                <a:latin typeface="DM Sans" pitchFamily="34" charset="0"/>
                <a:ea typeface="DM Sans" pitchFamily="34" charset="-122"/>
                <a:cs typeface="DM Sans" pitchFamily="34" charset="-120"/>
              </a:rPr>
              <a:t>Diversify supplier base and create incentives for quality and timely delivery</a:t>
            </a:r>
            <a:endParaRPr lang="en-US" sz="1200" dirty="0"/>
          </a:p>
        </p:txBody>
      </p:sp>
      <p:pic>
        <p:nvPicPr>
          <p:cNvPr id="15" name="Image 3" descr="preencoded.png"/>
          <p:cNvPicPr>
            <a:picLocks noChangeAspect="1"/>
          </p:cNvPicPr>
          <p:nvPr/>
        </p:nvPicPr>
        <p:blipFill>
          <a:blip r:embed="rId9">
            <a:extLst>
              <a:ext uri="{BEBA8EAE-BF5A-486C-A8C5-ECC9F3942E4B}">
                <a14:imgProps xmlns:a14="http://schemas.microsoft.com/office/drawing/2010/main">
                  <a14:imgLayer r:embed="rId10">
                    <a14:imgEffect>
                      <a14:colorTemperature colorTemp="4700"/>
                    </a14:imgEffect>
                  </a14:imgLayer>
                </a14:imgProps>
              </a:ext>
            </a:extLst>
          </a:blip>
          <a:stretch>
            <a:fillRect/>
          </a:stretch>
        </p:blipFill>
        <p:spPr>
          <a:xfrm>
            <a:off x="793790" y="6344603"/>
            <a:ext cx="737116" cy="884515"/>
          </a:xfrm>
          <a:prstGeom prst="rect">
            <a:avLst/>
          </a:prstGeom>
        </p:spPr>
      </p:pic>
      <p:sp>
        <p:nvSpPr>
          <p:cNvPr id="16" name="Text 10"/>
          <p:cNvSpPr/>
          <p:nvPr/>
        </p:nvSpPr>
        <p:spPr>
          <a:xfrm>
            <a:off x="1752005" y="6492002"/>
            <a:ext cx="1935123" cy="241816"/>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T Serif" pitchFamily="34" charset="0"/>
                <a:ea typeface="PT Serif" pitchFamily="34" charset="-122"/>
                <a:cs typeface="PT Serif" pitchFamily="34" charset="-120"/>
              </a:rPr>
              <a:t>Digitize Operations</a:t>
            </a:r>
            <a:endParaRPr lang="en-US" sz="1500" dirty="0"/>
          </a:p>
        </p:txBody>
      </p:sp>
      <p:sp>
        <p:nvSpPr>
          <p:cNvPr id="17" name="Text 11"/>
          <p:cNvSpPr/>
          <p:nvPr/>
        </p:nvSpPr>
        <p:spPr>
          <a:xfrm>
            <a:off x="1752005" y="6822162"/>
            <a:ext cx="12084606" cy="235744"/>
          </a:xfrm>
          <a:prstGeom prst="rect">
            <a:avLst/>
          </a:prstGeom>
          <a:noFill/>
          <a:ln/>
        </p:spPr>
        <p:txBody>
          <a:bodyPr wrap="none" lIns="0" tIns="0" rIns="0" bIns="0" rtlCol="0" anchor="t"/>
          <a:lstStyle/>
          <a:p>
            <a:pPr marL="0" indent="0" algn="l">
              <a:lnSpc>
                <a:spcPts val="1850"/>
              </a:lnSpc>
              <a:buNone/>
            </a:pPr>
            <a:r>
              <a:rPr lang="en-US" sz="1200" dirty="0">
                <a:solidFill>
                  <a:srgbClr val="383838"/>
                </a:solidFill>
                <a:latin typeface="DM Sans" pitchFamily="34" charset="0"/>
                <a:ea typeface="DM Sans" pitchFamily="34" charset="-122"/>
                <a:cs typeface="DM Sans" pitchFamily="34" charset="-120"/>
              </a:rPr>
              <a:t>Implement affordable digital solutions like Zoho or Google Sheets POS for better tracking</a:t>
            </a:r>
            <a:endParaRPr lang="en-US" sz="1200" dirty="0"/>
          </a:p>
        </p:txBody>
      </p:sp>
      <p:sp>
        <p:nvSpPr>
          <p:cNvPr id="30" name="Slide Number Placeholder 29">
            <a:extLst>
              <a:ext uri="{FF2B5EF4-FFF2-40B4-BE49-F238E27FC236}">
                <a16:creationId xmlns:a16="http://schemas.microsoft.com/office/drawing/2014/main" id="{619CB36D-E201-32ED-FCC5-CBED34F08C75}"/>
              </a:ext>
            </a:extLst>
          </p:cNvPr>
          <p:cNvSpPr>
            <a:spLocks noGrp="1"/>
          </p:cNvSpPr>
          <p:nvPr>
            <p:ph type="sldNum" sz="quarter" idx="12"/>
          </p:nvPr>
        </p:nvSpPr>
        <p:spPr/>
        <p:txBody>
          <a:bodyPr/>
          <a:lstStyle/>
          <a:p>
            <a:fld id="{4FAB73BC-B049-4115-A692-8D63A059BFB8}"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40556"/>
            <a:ext cx="5948839" cy="669846"/>
          </a:xfrm>
          <a:prstGeom prst="rect">
            <a:avLst/>
          </a:prstGeom>
          <a:noFill/>
          <a:ln/>
        </p:spPr>
        <p:txBody>
          <a:bodyPr wrap="none" lIns="0" tIns="0" rIns="0" bIns="0" rtlCol="0" anchor="t"/>
          <a:lstStyle/>
          <a:p>
            <a:pPr marL="0" indent="0" algn="l">
              <a:lnSpc>
                <a:spcPts val="5250"/>
              </a:lnSpc>
              <a:buNone/>
            </a:pPr>
            <a:r>
              <a:rPr lang="en-US" sz="4200" dirty="0">
                <a:solidFill>
                  <a:srgbClr val="020202"/>
                </a:solidFill>
                <a:latin typeface="PT Serif" pitchFamily="34" charset="0"/>
                <a:ea typeface="PT Serif" pitchFamily="34" charset="-122"/>
                <a:cs typeface="PT Serif" pitchFamily="34" charset="-120"/>
              </a:rPr>
              <a:t>Conclusion &amp; Next Steps</a:t>
            </a:r>
            <a:endParaRPr lang="en-US" sz="4200" dirty="0"/>
          </a:p>
        </p:txBody>
      </p:sp>
      <p:sp>
        <p:nvSpPr>
          <p:cNvPr id="3" name="Text 1"/>
          <p:cNvSpPr/>
          <p:nvPr/>
        </p:nvSpPr>
        <p:spPr>
          <a:xfrm>
            <a:off x="793790" y="1718667"/>
            <a:ext cx="13042821" cy="980123"/>
          </a:xfrm>
          <a:prstGeom prst="rect">
            <a:avLst/>
          </a:prstGeom>
          <a:noFill/>
          <a:ln/>
        </p:spPr>
        <p:txBody>
          <a:bodyPr wrap="square" lIns="0" tIns="0" rIns="0" bIns="0" rtlCol="0" anchor="t"/>
          <a:lstStyle/>
          <a:p>
            <a:pPr marL="285750" indent="-285750" algn="l">
              <a:lnSpc>
                <a:spcPts val="2550"/>
              </a:lnSpc>
              <a:buFont typeface="Arial" panose="020B0604020202020204" pitchFamily="34" charset="0"/>
              <a:buChar char="•"/>
            </a:pPr>
            <a:r>
              <a:rPr lang="en-US" sz="1600" dirty="0">
                <a:solidFill>
                  <a:srgbClr val="383838"/>
                </a:solidFill>
                <a:latin typeface="DM Sans" pitchFamily="34" charset="0"/>
                <a:ea typeface="DM Sans" pitchFamily="34" charset="-122"/>
                <a:cs typeface="DM Sans" pitchFamily="34" charset="-120"/>
              </a:rPr>
              <a:t>The data analytics initiative has successfully identified key inefficiencies in inventory management, credit control, and supplier relationships at New A-One Bangle &amp; Co. . By addressing these issues with data driven strategies, the business can significantly improve operational performance and financial outcomes.</a:t>
            </a:r>
            <a:endParaRPr lang="en-US" sz="1600" dirty="0"/>
          </a:p>
        </p:txBody>
      </p:sp>
      <p:sp>
        <p:nvSpPr>
          <p:cNvPr id="4" name="Text 2"/>
          <p:cNvSpPr/>
          <p:nvPr/>
        </p:nvSpPr>
        <p:spPr>
          <a:xfrm>
            <a:off x="793790" y="2928342"/>
            <a:ext cx="13042821" cy="980123"/>
          </a:xfrm>
          <a:prstGeom prst="rect">
            <a:avLst/>
          </a:prstGeom>
          <a:noFill/>
          <a:ln/>
        </p:spPr>
        <p:txBody>
          <a:bodyPr wrap="square" lIns="0" tIns="0" rIns="0" bIns="0" rtlCol="0" anchor="t"/>
          <a:lstStyle/>
          <a:p>
            <a:pPr marL="285750" indent="-285750" algn="l">
              <a:lnSpc>
                <a:spcPts val="2550"/>
              </a:lnSpc>
              <a:buFont typeface="Arial" panose="020B0604020202020204" pitchFamily="34" charset="0"/>
              <a:buChar char="•"/>
            </a:pPr>
            <a:r>
              <a:rPr lang="en-US" sz="1600" dirty="0">
                <a:solidFill>
                  <a:srgbClr val="383838"/>
                </a:solidFill>
                <a:latin typeface="DM Sans" pitchFamily="34" charset="0"/>
                <a:ea typeface="DM Sans" pitchFamily="34" charset="-122"/>
                <a:cs typeface="DM Sans" pitchFamily="34" charset="-120"/>
              </a:rPr>
              <a:t>Moving forward, I recommend implementing a predictive inventory management system that anticipates seasonal demand fluctuations. Monthly credit health monitoring should be established to prevent the accumulation of overdue payments. The business should also begin a phased digital transformation to improve data accuracy and decision-making capabilities.</a:t>
            </a:r>
            <a:endParaRPr lang="en-US" sz="1600" dirty="0"/>
          </a:p>
        </p:txBody>
      </p:sp>
      <p:sp>
        <p:nvSpPr>
          <p:cNvPr id="5" name="Text 3"/>
          <p:cNvSpPr/>
          <p:nvPr/>
        </p:nvSpPr>
        <p:spPr>
          <a:xfrm>
            <a:off x="793790" y="4115715"/>
            <a:ext cx="13042821" cy="653415"/>
          </a:xfrm>
          <a:prstGeom prst="rect">
            <a:avLst/>
          </a:prstGeom>
          <a:noFill/>
          <a:ln/>
        </p:spPr>
        <p:txBody>
          <a:bodyPr wrap="square" lIns="0" tIns="0" rIns="0" bIns="0" rtlCol="0" anchor="t"/>
          <a:lstStyle/>
          <a:p>
            <a:pPr marL="285750" indent="-285750" algn="l">
              <a:lnSpc>
                <a:spcPts val="2550"/>
              </a:lnSpc>
              <a:buFont typeface="Arial" panose="020B0604020202020204" pitchFamily="34" charset="0"/>
              <a:buChar char="•"/>
            </a:pPr>
            <a:r>
              <a:rPr lang="en-US" sz="1600" dirty="0">
                <a:solidFill>
                  <a:srgbClr val="383838"/>
                </a:solidFill>
                <a:latin typeface="DM Sans" pitchFamily="34" charset="0"/>
                <a:ea typeface="DM Sans" pitchFamily="34" charset="-122"/>
                <a:cs typeface="DM Sans" pitchFamily="34" charset="-120"/>
              </a:rPr>
              <a:t>These steps will not only address immediate operational challenges but also position the business for long-term scalability and sustainable growth in a competitive market.</a:t>
            </a:r>
            <a:endParaRPr lang="en-US" sz="1600" dirty="0"/>
          </a:p>
        </p:txBody>
      </p:sp>
      <p:sp>
        <p:nvSpPr>
          <p:cNvPr id="6" name="Shape 4"/>
          <p:cNvSpPr/>
          <p:nvPr/>
        </p:nvSpPr>
        <p:spPr>
          <a:xfrm>
            <a:off x="854863" y="5534385"/>
            <a:ext cx="4143494" cy="204073"/>
          </a:xfrm>
          <a:prstGeom prst="roundRect">
            <a:avLst>
              <a:gd name="adj" fmla="val 15005"/>
            </a:avLst>
          </a:prstGeom>
          <a:solidFill>
            <a:srgbClr val="F2EEEE"/>
          </a:solidFill>
          <a:ln/>
        </p:spPr>
        <p:txBody>
          <a:bodyPr/>
          <a:lstStyle/>
          <a:p>
            <a:endParaRPr lang="en-IN" dirty="0"/>
          </a:p>
        </p:txBody>
      </p:sp>
      <p:sp>
        <p:nvSpPr>
          <p:cNvPr id="7" name="Text 5"/>
          <p:cNvSpPr/>
          <p:nvPr/>
        </p:nvSpPr>
        <p:spPr>
          <a:xfrm>
            <a:off x="854863" y="5813263"/>
            <a:ext cx="4143494" cy="669608"/>
          </a:xfrm>
          <a:prstGeom prst="rect">
            <a:avLst/>
          </a:prstGeom>
          <a:noFill/>
          <a:ln/>
        </p:spPr>
        <p:txBody>
          <a:bodyPr wrap="square" lIns="0" tIns="0" rIns="0" bIns="0" rtlCol="0" anchor="t"/>
          <a:lstStyle/>
          <a:p>
            <a:pPr marL="0" indent="0" algn="l">
              <a:lnSpc>
                <a:spcPts val="2600"/>
              </a:lnSpc>
              <a:buNone/>
            </a:pPr>
            <a:r>
              <a:rPr lang="en-US" sz="2100" dirty="0">
                <a:solidFill>
                  <a:srgbClr val="383838"/>
                </a:solidFill>
                <a:latin typeface="PT Serif" pitchFamily="34" charset="0"/>
                <a:ea typeface="PT Serif" pitchFamily="34" charset="-122"/>
                <a:cs typeface="PT Serif" pitchFamily="34" charset="-120"/>
              </a:rPr>
              <a:t>Implement Predictive Inventory System</a:t>
            </a:r>
            <a:endParaRPr lang="en-US" sz="2100" dirty="0"/>
          </a:p>
        </p:txBody>
      </p:sp>
      <p:sp>
        <p:nvSpPr>
          <p:cNvPr id="8" name="Text 6"/>
          <p:cNvSpPr/>
          <p:nvPr/>
        </p:nvSpPr>
        <p:spPr>
          <a:xfrm>
            <a:off x="854863" y="6646327"/>
            <a:ext cx="4143494" cy="653415"/>
          </a:xfrm>
          <a:prstGeom prst="rect">
            <a:avLst/>
          </a:prstGeom>
          <a:noFill/>
          <a:ln/>
        </p:spPr>
        <p:txBody>
          <a:bodyPr wrap="square" lIns="0" tIns="0" rIns="0" bIns="0" rtlCol="0" anchor="t"/>
          <a:lstStyle/>
          <a:p>
            <a:pPr marL="0" indent="0" algn="l">
              <a:lnSpc>
                <a:spcPts val="2550"/>
              </a:lnSpc>
              <a:buNone/>
            </a:pPr>
            <a:r>
              <a:rPr lang="en-US" sz="1600" dirty="0">
                <a:solidFill>
                  <a:srgbClr val="383838"/>
                </a:solidFill>
                <a:latin typeface="DM Sans" pitchFamily="34" charset="0"/>
                <a:ea typeface="DM Sans" pitchFamily="34" charset="-122"/>
                <a:cs typeface="DM Sans" pitchFamily="34" charset="-120"/>
              </a:rPr>
              <a:t>Deploy data-driven forecasting to optimize stock levels based on seasonal patterns</a:t>
            </a:r>
            <a:endParaRPr lang="en-US" sz="1600" dirty="0"/>
          </a:p>
        </p:txBody>
      </p:sp>
      <p:sp>
        <p:nvSpPr>
          <p:cNvPr id="9" name="Shape 7"/>
          <p:cNvSpPr/>
          <p:nvPr/>
        </p:nvSpPr>
        <p:spPr>
          <a:xfrm>
            <a:off x="5244911" y="5537993"/>
            <a:ext cx="4143494" cy="204073"/>
          </a:xfrm>
          <a:prstGeom prst="roundRect">
            <a:avLst>
              <a:gd name="adj" fmla="val 15005"/>
            </a:avLst>
          </a:prstGeom>
          <a:solidFill>
            <a:srgbClr val="F2EEEE"/>
          </a:solidFill>
          <a:ln/>
        </p:spPr>
        <p:txBody>
          <a:bodyPr/>
          <a:lstStyle/>
          <a:p>
            <a:endParaRPr lang="en-IN" dirty="0"/>
          </a:p>
        </p:txBody>
      </p:sp>
      <p:sp>
        <p:nvSpPr>
          <p:cNvPr id="10" name="Text 8"/>
          <p:cNvSpPr/>
          <p:nvPr/>
        </p:nvSpPr>
        <p:spPr>
          <a:xfrm>
            <a:off x="5244911" y="5878610"/>
            <a:ext cx="3307437" cy="367426"/>
          </a:xfrm>
          <a:prstGeom prst="rect">
            <a:avLst/>
          </a:prstGeom>
          <a:noFill/>
          <a:ln/>
        </p:spPr>
        <p:txBody>
          <a:bodyPr wrap="none" lIns="0" tIns="0" rIns="0" bIns="0" rtlCol="0" anchor="t"/>
          <a:lstStyle/>
          <a:p>
            <a:pPr marL="0" indent="0" algn="l">
              <a:lnSpc>
                <a:spcPts val="2600"/>
              </a:lnSpc>
              <a:buNone/>
            </a:pPr>
            <a:r>
              <a:rPr lang="en-US" sz="2100" dirty="0">
                <a:solidFill>
                  <a:srgbClr val="383838"/>
                </a:solidFill>
                <a:latin typeface="PT Serif" pitchFamily="34" charset="0"/>
                <a:ea typeface="PT Serif" pitchFamily="34" charset="-122"/>
                <a:cs typeface="PT Serif" pitchFamily="34" charset="-120"/>
              </a:rPr>
              <a:t>Establish Credit Monitoring</a:t>
            </a:r>
            <a:endParaRPr lang="en-US" sz="2100" dirty="0"/>
          </a:p>
        </p:txBody>
      </p:sp>
      <p:sp>
        <p:nvSpPr>
          <p:cNvPr id="11" name="Text 9"/>
          <p:cNvSpPr/>
          <p:nvPr/>
        </p:nvSpPr>
        <p:spPr>
          <a:xfrm>
            <a:off x="5148409" y="6612990"/>
            <a:ext cx="4143494" cy="686752"/>
          </a:xfrm>
          <a:prstGeom prst="rect">
            <a:avLst/>
          </a:prstGeom>
          <a:noFill/>
          <a:ln/>
        </p:spPr>
        <p:txBody>
          <a:bodyPr wrap="square" lIns="0" tIns="0" rIns="0" bIns="0" rtlCol="0" anchor="t"/>
          <a:lstStyle/>
          <a:p>
            <a:pPr marL="0" indent="0" algn="l">
              <a:lnSpc>
                <a:spcPts val="2550"/>
              </a:lnSpc>
              <a:buNone/>
            </a:pPr>
            <a:r>
              <a:rPr lang="en-US" sz="1600" dirty="0">
                <a:solidFill>
                  <a:srgbClr val="383838"/>
                </a:solidFill>
                <a:latin typeface="DM Sans" pitchFamily="34" charset="0"/>
                <a:ea typeface="DM Sans" pitchFamily="34" charset="-122"/>
                <a:cs typeface="DM Sans" pitchFamily="34" charset="-120"/>
              </a:rPr>
              <a:t>Create monthly credit health reviews to identify and address payment issues early</a:t>
            </a:r>
            <a:endParaRPr lang="en-US" sz="1600" dirty="0"/>
          </a:p>
        </p:txBody>
      </p:sp>
      <p:sp>
        <p:nvSpPr>
          <p:cNvPr id="12" name="Shape 10"/>
          <p:cNvSpPr/>
          <p:nvPr/>
        </p:nvSpPr>
        <p:spPr>
          <a:xfrm>
            <a:off x="9634959" y="5537993"/>
            <a:ext cx="4143494" cy="204073"/>
          </a:xfrm>
          <a:prstGeom prst="roundRect">
            <a:avLst>
              <a:gd name="adj" fmla="val 15005"/>
            </a:avLst>
          </a:prstGeom>
          <a:solidFill>
            <a:srgbClr val="F2EEEE"/>
          </a:solidFill>
          <a:ln/>
        </p:spPr>
        <p:txBody>
          <a:bodyPr/>
          <a:lstStyle/>
          <a:p>
            <a:endParaRPr lang="en-IN" dirty="0"/>
          </a:p>
        </p:txBody>
      </p:sp>
      <p:sp>
        <p:nvSpPr>
          <p:cNvPr id="13" name="Text 11"/>
          <p:cNvSpPr/>
          <p:nvPr/>
        </p:nvSpPr>
        <p:spPr>
          <a:xfrm>
            <a:off x="9754070" y="5829437"/>
            <a:ext cx="3480197" cy="150971"/>
          </a:xfrm>
          <a:prstGeom prst="rect">
            <a:avLst/>
          </a:prstGeom>
          <a:noFill/>
          <a:ln/>
        </p:spPr>
        <p:txBody>
          <a:bodyPr wrap="none" lIns="0" tIns="0" rIns="0" bIns="0" rtlCol="0" anchor="t"/>
          <a:lstStyle/>
          <a:p>
            <a:pPr marL="0" indent="0" algn="l">
              <a:lnSpc>
                <a:spcPts val="2600"/>
              </a:lnSpc>
              <a:buNone/>
            </a:pPr>
            <a:r>
              <a:rPr lang="en-US" sz="2100" dirty="0">
                <a:solidFill>
                  <a:srgbClr val="383838"/>
                </a:solidFill>
                <a:latin typeface="PT Serif" pitchFamily="34" charset="0"/>
                <a:ea typeface="PT Serif" pitchFamily="34" charset="-122"/>
                <a:cs typeface="PT Serif" pitchFamily="34" charset="-120"/>
              </a:rPr>
              <a:t>Begin Digital Transformation</a:t>
            </a:r>
            <a:endParaRPr lang="en-US" sz="2100" dirty="0"/>
          </a:p>
        </p:txBody>
      </p:sp>
      <p:sp>
        <p:nvSpPr>
          <p:cNvPr id="14" name="Text 12"/>
          <p:cNvSpPr/>
          <p:nvPr/>
        </p:nvSpPr>
        <p:spPr>
          <a:xfrm>
            <a:off x="9754070" y="6482870"/>
            <a:ext cx="4143494" cy="980328"/>
          </a:xfrm>
          <a:prstGeom prst="rect">
            <a:avLst/>
          </a:prstGeom>
          <a:noFill/>
          <a:ln/>
        </p:spPr>
        <p:txBody>
          <a:bodyPr wrap="square" lIns="0" tIns="0" rIns="0" bIns="0" rtlCol="0" anchor="t"/>
          <a:lstStyle/>
          <a:p>
            <a:pPr marL="0" indent="0" algn="l">
              <a:lnSpc>
                <a:spcPts val="2550"/>
              </a:lnSpc>
              <a:buNone/>
            </a:pPr>
            <a:r>
              <a:rPr lang="en-US" sz="1600" dirty="0">
                <a:solidFill>
                  <a:srgbClr val="383838"/>
                </a:solidFill>
                <a:latin typeface="DM Sans" pitchFamily="34" charset="0"/>
                <a:ea typeface="DM Sans" pitchFamily="34" charset="-122"/>
                <a:cs typeface="DM Sans" pitchFamily="34" charset="-120"/>
              </a:rPr>
              <a:t>Start with basic digital tools and gradually expand capabilities for comprehensive business intelligence</a:t>
            </a:r>
            <a:endParaRPr lang="en-US" sz="1600" dirty="0"/>
          </a:p>
        </p:txBody>
      </p:sp>
      <p:sp>
        <p:nvSpPr>
          <p:cNvPr id="24" name="Slide Number Placeholder 23">
            <a:extLst>
              <a:ext uri="{FF2B5EF4-FFF2-40B4-BE49-F238E27FC236}">
                <a16:creationId xmlns:a16="http://schemas.microsoft.com/office/drawing/2014/main" id="{331E14C7-01A2-8125-45B6-0B061A38BF3E}"/>
              </a:ext>
            </a:extLst>
          </p:cNvPr>
          <p:cNvSpPr>
            <a:spLocks noGrp="1"/>
          </p:cNvSpPr>
          <p:nvPr>
            <p:ph type="sldNum" sz="quarter" idx="12"/>
          </p:nvPr>
        </p:nvSpPr>
        <p:spPr/>
        <p:txBody>
          <a:bodyPr/>
          <a:lstStyle/>
          <a:p>
            <a:fld id="{4FAB73BC-B049-4115-A692-8D63A059BFB8}" type="slidenum">
              <a:rPr lang="en-US" smtClean="0"/>
              <a:pPr/>
              <a:t>12</a:t>
            </a:fld>
            <a:endParaRPr lang="en-US" dirty="0"/>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1092</TotalTime>
  <Words>1631</Words>
  <Application>Microsoft Office PowerPoint</Application>
  <PresentationFormat>Custom</PresentationFormat>
  <Paragraphs>172</Paragraphs>
  <Slides>12</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Calibri</vt:lpstr>
      <vt:lpstr>DM Sans Bold</vt:lpstr>
      <vt:lpstr>Calibri Light</vt:lpstr>
      <vt:lpstr>PT Serif</vt:lpstr>
      <vt:lpstr>Roboto</vt:lpstr>
      <vt:lpstr>Montserrat Bold</vt:lpstr>
      <vt:lpstr>Source Sans Pro</vt:lpstr>
      <vt:lpstr>Arial</vt:lpstr>
      <vt:lpstr>DM Sans</vt:lpstr>
      <vt:lpstr>Fira Sans Bold</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Sales and Forecasting </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Aqdas Khan</cp:lastModifiedBy>
  <cp:revision>16</cp:revision>
  <dcterms:created xsi:type="dcterms:W3CDTF">2025-04-21T08:30:43Z</dcterms:created>
  <dcterms:modified xsi:type="dcterms:W3CDTF">2025-04-23T10:43:34Z</dcterms:modified>
</cp:coreProperties>
</file>